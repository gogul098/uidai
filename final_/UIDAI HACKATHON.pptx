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6" r:id="rId2"/>
    <p:sldId id="287" r:id="rId3"/>
    <p:sldId id="278" r:id="rId4"/>
    <p:sldId id="277" r:id="rId5"/>
    <p:sldId id="257" r:id="rId6"/>
    <p:sldId id="279" r:id="rId7"/>
    <p:sldId id="275" r:id="rId8"/>
    <p:sldId id="290" r:id="rId9"/>
    <p:sldId id="274" r:id="rId10"/>
    <p:sldId id="271" r:id="rId11"/>
    <p:sldId id="272" r:id="rId12"/>
    <p:sldId id="273" r:id="rId13"/>
    <p:sldId id="281" r:id="rId14"/>
    <p:sldId id="260" r:id="rId15"/>
    <p:sldId id="282" r:id="rId16"/>
    <p:sldId id="261" r:id="rId17"/>
    <p:sldId id="288" r:id="rId18"/>
    <p:sldId id="262" r:id="rId19"/>
    <p:sldId id="283" r:id="rId20"/>
    <p:sldId id="263" r:id="rId21"/>
    <p:sldId id="284" r:id="rId22"/>
    <p:sldId id="264" r:id="rId23"/>
    <p:sldId id="286" r:id="rId24"/>
    <p:sldId id="265" r:id="rId25"/>
    <p:sldId id="285" r:id="rId26"/>
    <p:sldId id="266" r:id="rId27"/>
    <p:sldId id="267" r:id="rId28"/>
    <p:sldId id="268"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B6B15"/>
    <a:srgbClr val="171717"/>
    <a:srgbClr val="FFFFFF"/>
    <a:srgbClr val="0E1117"/>
    <a:srgbClr val="08306B"/>
    <a:srgbClr val="32597A"/>
    <a:srgbClr val="6296BF"/>
    <a:srgbClr val="65140B"/>
    <a:srgbClr val="E94D3C"/>
    <a:srgbClr val="610B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66E282-7078-41E9-ADCA-90034EE0E30F}" v="185" dt="2026-02-13T00:07:15.8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8A1BDE-85A2-44B2-A685-47229291D994}" type="datetimeFigureOut">
              <a:rPr lang="en-IN" smtClean="0"/>
              <a:t>13-02-2026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140DBF-EB3D-4614-9AD8-D7F7A37F98F0}" type="slidenum">
              <a:rPr lang="en-IN" smtClean="0"/>
              <a:t>‹#›</a:t>
            </a:fld>
            <a:endParaRPr lang="en-IN"/>
          </a:p>
        </p:txBody>
      </p:sp>
    </p:spTree>
    <p:extLst>
      <p:ext uri="{BB962C8B-B14F-4D97-AF65-F5344CB8AC3E}">
        <p14:creationId xmlns:p14="http://schemas.microsoft.com/office/powerpoint/2010/main" val="2924294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This allows UIDAI to cease over-financing those busy-looking districts and target those districts with real "high-effort" fresh enrolment backlogs.</a:t>
            </a:r>
          </a:p>
          <a:p>
            <a:endParaRPr lang="en-IN" dirty="0"/>
          </a:p>
        </p:txBody>
      </p:sp>
      <p:sp>
        <p:nvSpPr>
          <p:cNvPr id="4" name="Slide Number Placeholder 3"/>
          <p:cNvSpPr>
            <a:spLocks noGrp="1"/>
          </p:cNvSpPr>
          <p:nvPr>
            <p:ph type="sldNum" sz="quarter" idx="5"/>
          </p:nvPr>
        </p:nvSpPr>
        <p:spPr/>
        <p:txBody>
          <a:bodyPr/>
          <a:lstStyle/>
          <a:p>
            <a:fld id="{C0140DBF-EB3D-4614-9AD8-D7F7A37F98F0}" type="slidenum">
              <a:rPr lang="en-IN" smtClean="0"/>
              <a:t>20</a:t>
            </a:fld>
            <a:endParaRPr lang="en-IN"/>
          </a:p>
        </p:txBody>
      </p:sp>
    </p:spTree>
    <p:extLst>
      <p:ext uri="{BB962C8B-B14F-4D97-AF65-F5344CB8AC3E}">
        <p14:creationId xmlns:p14="http://schemas.microsoft.com/office/powerpoint/2010/main" val="42202589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3F69DE-F994-4E9E-9C61-E6AB92BCABAB}" type="datetimeFigureOut">
              <a:rPr lang="en-IN" smtClean="0"/>
              <a:t>13-02-2026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103DF8-085E-4B88-AB78-5848CEB1EE18}" type="slidenum">
              <a:rPr lang="en-IN" smtClean="0"/>
              <a:t>‹#›</a:t>
            </a:fld>
            <a:endParaRPr lang="en-IN"/>
          </a:p>
        </p:txBody>
      </p:sp>
    </p:spTree>
    <p:extLst>
      <p:ext uri="{BB962C8B-B14F-4D97-AF65-F5344CB8AC3E}">
        <p14:creationId xmlns:p14="http://schemas.microsoft.com/office/powerpoint/2010/main" val="14727804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3F69DE-F994-4E9E-9C61-E6AB92BCABAB}" type="datetimeFigureOut">
              <a:rPr lang="en-IN" smtClean="0"/>
              <a:t>13-02-2026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103DF8-085E-4B88-AB78-5848CEB1EE18}" type="slidenum">
              <a:rPr lang="en-IN" smtClean="0"/>
              <a:t>‹#›</a:t>
            </a:fld>
            <a:endParaRPr lang="en-IN"/>
          </a:p>
        </p:txBody>
      </p:sp>
    </p:spTree>
    <p:extLst>
      <p:ext uri="{BB962C8B-B14F-4D97-AF65-F5344CB8AC3E}">
        <p14:creationId xmlns:p14="http://schemas.microsoft.com/office/powerpoint/2010/main" val="31452479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3F69DE-F994-4E9E-9C61-E6AB92BCABAB}" type="datetimeFigureOut">
              <a:rPr lang="en-IN" smtClean="0"/>
              <a:t>13-02-2026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103DF8-085E-4B88-AB78-5848CEB1EE18}" type="slidenum">
              <a:rPr lang="en-IN" smtClean="0"/>
              <a:t>‹#›</a:t>
            </a:fld>
            <a:endParaRPr lang="en-IN"/>
          </a:p>
        </p:txBody>
      </p:sp>
    </p:spTree>
    <p:extLst>
      <p:ext uri="{BB962C8B-B14F-4D97-AF65-F5344CB8AC3E}">
        <p14:creationId xmlns:p14="http://schemas.microsoft.com/office/powerpoint/2010/main" val="23036068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13F69DE-F994-4E9E-9C61-E6AB92BCABAB}" type="datetimeFigureOut">
              <a:rPr lang="en-IN" smtClean="0"/>
              <a:t>13-02-2026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103DF8-085E-4B88-AB78-5848CEB1EE18}" type="slidenum">
              <a:rPr lang="en-IN" smtClean="0"/>
              <a:t>‹#›</a:t>
            </a:fld>
            <a:endParaRPr lang="en-IN"/>
          </a:p>
        </p:txBody>
      </p:sp>
    </p:spTree>
    <p:extLst>
      <p:ext uri="{BB962C8B-B14F-4D97-AF65-F5344CB8AC3E}">
        <p14:creationId xmlns:p14="http://schemas.microsoft.com/office/powerpoint/2010/main" val="9184400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13F69DE-F994-4E9E-9C61-E6AB92BCABAB}" type="datetimeFigureOut">
              <a:rPr lang="en-IN" smtClean="0"/>
              <a:t>13-02-2026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1103DF8-085E-4B88-AB78-5848CEB1EE18}" type="slidenum">
              <a:rPr lang="en-IN" smtClean="0"/>
              <a:t>‹#›</a:t>
            </a:fld>
            <a:endParaRPr lang="en-IN"/>
          </a:p>
        </p:txBody>
      </p:sp>
    </p:spTree>
    <p:extLst>
      <p:ext uri="{BB962C8B-B14F-4D97-AF65-F5344CB8AC3E}">
        <p14:creationId xmlns:p14="http://schemas.microsoft.com/office/powerpoint/2010/main" val="24334849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13F69DE-F994-4E9E-9C61-E6AB92BCABAB}" type="datetimeFigureOut">
              <a:rPr lang="en-IN" smtClean="0"/>
              <a:t>13-02-2026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1103DF8-085E-4B88-AB78-5848CEB1EE18}" type="slidenum">
              <a:rPr lang="en-IN" smtClean="0"/>
              <a:t>‹#›</a:t>
            </a:fld>
            <a:endParaRPr lang="en-IN"/>
          </a:p>
        </p:txBody>
      </p:sp>
    </p:spTree>
    <p:extLst>
      <p:ext uri="{BB962C8B-B14F-4D97-AF65-F5344CB8AC3E}">
        <p14:creationId xmlns:p14="http://schemas.microsoft.com/office/powerpoint/2010/main" val="20895045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3F69DE-F994-4E9E-9C61-E6AB92BCABAB}" type="datetimeFigureOut">
              <a:rPr lang="en-IN" smtClean="0"/>
              <a:t>13-02-2026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1103DF8-085E-4B88-AB78-5848CEB1EE18}" type="slidenum">
              <a:rPr lang="en-IN" smtClean="0"/>
              <a:t>‹#›</a:t>
            </a:fld>
            <a:endParaRPr lang="en-IN"/>
          </a:p>
        </p:txBody>
      </p:sp>
    </p:spTree>
    <p:extLst>
      <p:ext uri="{BB962C8B-B14F-4D97-AF65-F5344CB8AC3E}">
        <p14:creationId xmlns:p14="http://schemas.microsoft.com/office/powerpoint/2010/main" val="38596435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3F69DE-F994-4E9E-9C61-E6AB92BCABAB}" type="datetimeFigureOut">
              <a:rPr lang="en-IN" smtClean="0"/>
              <a:t>13-02-2026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103DF8-085E-4B88-AB78-5848CEB1EE18}" type="slidenum">
              <a:rPr lang="en-IN" smtClean="0"/>
              <a:t>‹#›</a:t>
            </a:fld>
            <a:endParaRPr lang="en-IN"/>
          </a:p>
        </p:txBody>
      </p:sp>
    </p:spTree>
    <p:extLst>
      <p:ext uri="{BB962C8B-B14F-4D97-AF65-F5344CB8AC3E}">
        <p14:creationId xmlns:p14="http://schemas.microsoft.com/office/powerpoint/2010/main" val="28084541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3F69DE-F994-4E9E-9C61-E6AB92BCABAB}" type="datetimeFigureOut">
              <a:rPr lang="en-IN" smtClean="0"/>
              <a:t>13-02-2026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103DF8-085E-4B88-AB78-5848CEB1EE18}" type="slidenum">
              <a:rPr lang="en-IN" smtClean="0"/>
              <a:t>‹#›</a:t>
            </a:fld>
            <a:endParaRPr lang="en-IN"/>
          </a:p>
        </p:txBody>
      </p:sp>
    </p:spTree>
    <p:extLst>
      <p:ext uri="{BB962C8B-B14F-4D97-AF65-F5344CB8AC3E}">
        <p14:creationId xmlns:p14="http://schemas.microsoft.com/office/powerpoint/2010/main" val="23819305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3F69DE-F994-4E9E-9C61-E6AB92BCABAB}" type="datetimeFigureOut">
              <a:rPr lang="en-IN" smtClean="0"/>
              <a:t>13-02-2026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103DF8-085E-4B88-AB78-5848CEB1EE18}" type="slidenum">
              <a:rPr lang="en-IN" smtClean="0"/>
              <a:t>‹#›</a:t>
            </a:fld>
            <a:endParaRPr lang="en-IN"/>
          </a:p>
        </p:txBody>
      </p:sp>
    </p:spTree>
    <p:extLst>
      <p:ext uri="{BB962C8B-B14F-4D97-AF65-F5344CB8AC3E}">
        <p14:creationId xmlns:p14="http://schemas.microsoft.com/office/powerpoint/2010/main" val="27117232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3F69DE-F994-4E9E-9C61-E6AB92BCABAB}" type="datetimeFigureOut">
              <a:rPr lang="en-IN" smtClean="0"/>
              <a:t>13-02-2026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103DF8-085E-4B88-AB78-5848CEB1EE18}" type="slidenum">
              <a:rPr lang="en-IN" smtClean="0"/>
              <a:t>‹#›</a:t>
            </a:fld>
            <a:endParaRPr lang="en-IN"/>
          </a:p>
        </p:txBody>
      </p:sp>
    </p:spTree>
    <p:extLst>
      <p:ext uri="{BB962C8B-B14F-4D97-AF65-F5344CB8AC3E}">
        <p14:creationId xmlns:p14="http://schemas.microsoft.com/office/powerpoint/2010/main" val="10028930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E111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3F69DE-F994-4E9E-9C61-E6AB92BCABAB}" type="datetimeFigureOut">
              <a:rPr lang="en-IN" smtClean="0"/>
              <a:t>13-02-2026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103DF8-085E-4B88-AB78-5848CEB1EE18}" type="slidenum">
              <a:rPr lang="en-IN" smtClean="0"/>
              <a:t>‹#›</a:t>
            </a:fld>
            <a:endParaRPr lang="en-IN"/>
          </a:p>
        </p:txBody>
      </p:sp>
    </p:spTree>
    <p:extLst>
      <p:ext uri="{BB962C8B-B14F-4D97-AF65-F5344CB8AC3E}">
        <p14:creationId xmlns:p14="http://schemas.microsoft.com/office/powerpoint/2010/main" val="130973760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 Target="slide11.xml"/><Relationship Id="rId7" Type="http://schemas.openxmlformats.org/officeDocument/2006/relationships/image" Target="../media/image4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slide" Target="slide10.xml"/><Relationship Id="rId5" Type="http://schemas.openxmlformats.org/officeDocument/2006/relationships/image" Target="../media/image4.png"/><Relationship Id="rId4" Type="http://schemas.openxmlformats.org/officeDocument/2006/relationships/image" Target="../media/image30.png"/><Relationship Id="rId9" Type="http://schemas.openxmlformats.org/officeDocument/2006/relationships/slide" Target="slide1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is may contain: aadhaar card status and how to check it">
            <a:extLst>
              <a:ext uri="{FF2B5EF4-FFF2-40B4-BE49-F238E27FC236}">
                <a16:creationId xmlns:a16="http://schemas.microsoft.com/office/drawing/2014/main" id="{FEB85803-F315-4113-4B15-E5403354F4D9}"/>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b="25390"/>
          <a:stretch>
            <a:fillRect/>
          </a:stretch>
        </p:blipFill>
        <p:spPr bwMode="auto">
          <a:xfrm>
            <a:off x="-2318390" y="-87549"/>
            <a:ext cx="16828779"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a:extLst>
              <a:ext uri="{FF2B5EF4-FFF2-40B4-BE49-F238E27FC236}">
                <a16:creationId xmlns:a16="http://schemas.microsoft.com/office/drawing/2014/main" id="{8E667B14-27A4-8023-2E15-E6455CE05EBB}"/>
              </a:ext>
            </a:extLst>
          </p:cNvPr>
          <p:cNvSpPr>
            <a:spLocks noGrp="1"/>
          </p:cNvSpPr>
          <p:nvPr>
            <p:ph type="subTitle" idx="1"/>
          </p:nvPr>
        </p:nvSpPr>
        <p:spPr/>
        <p:txBody>
          <a:bodyPr/>
          <a:lstStyle/>
          <a:p>
            <a:endParaRPr lang="en-IN" dirty="0"/>
          </a:p>
        </p:txBody>
      </p:sp>
      <p:sp>
        <p:nvSpPr>
          <p:cNvPr id="4" name="Rectangle 3">
            <a:extLst>
              <a:ext uri="{FF2B5EF4-FFF2-40B4-BE49-F238E27FC236}">
                <a16:creationId xmlns:a16="http://schemas.microsoft.com/office/drawing/2014/main" id="{AD9315DA-5740-9E7F-F252-330B24642CCE}"/>
              </a:ext>
            </a:extLst>
          </p:cNvPr>
          <p:cNvSpPr/>
          <p:nvPr/>
        </p:nvSpPr>
        <p:spPr>
          <a:xfrm>
            <a:off x="-6889786" y="-87549"/>
            <a:ext cx="1076400" cy="6848272"/>
          </a:xfrm>
          <a:prstGeom prst="rect">
            <a:avLst/>
          </a:prstGeom>
          <a:solidFill>
            <a:schemeClr val="dk1">
              <a:alpha val="8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CC95029-869E-AA0C-C812-CE784A08BA27}"/>
              </a:ext>
            </a:extLst>
          </p:cNvPr>
          <p:cNvSpPr/>
          <p:nvPr/>
        </p:nvSpPr>
        <p:spPr>
          <a:xfrm>
            <a:off x="-5813386" y="-87549"/>
            <a:ext cx="1076400" cy="6848272"/>
          </a:xfrm>
          <a:prstGeom prst="rect">
            <a:avLst/>
          </a:prstGeom>
          <a:solidFill>
            <a:schemeClr val="dk1">
              <a:alpha val="8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9419F44C-1572-E6B5-663E-FCB9260A33D2}"/>
              </a:ext>
            </a:extLst>
          </p:cNvPr>
          <p:cNvSpPr/>
          <p:nvPr/>
        </p:nvSpPr>
        <p:spPr>
          <a:xfrm>
            <a:off x="-4736986" y="-87549"/>
            <a:ext cx="1076400" cy="6848272"/>
          </a:xfrm>
          <a:prstGeom prst="rect">
            <a:avLst/>
          </a:prstGeom>
          <a:solidFill>
            <a:schemeClr val="dk1">
              <a:alpha val="7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61E4A23F-AD8F-5216-B46A-246B93D69EC4}"/>
              </a:ext>
            </a:extLst>
          </p:cNvPr>
          <p:cNvSpPr/>
          <p:nvPr/>
        </p:nvSpPr>
        <p:spPr>
          <a:xfrm>
            <a:off x="-3660586" y="-87549"/>
            <a:ext cx="1076400" cy="6848272"/>
          </a:xfrm>
          <a:prstGeom prst="rect">
            <a:avLst/>
          </a:prstGeom>
          <a:solidFill>
            <a:schemeClr val="dk1">
              <a:alpha val="6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2C0558C4-A77E-8B5B-81F0-4E5FAA596D6F}"/>
              </a:ext>
            </a:extLst>
          </p:cNvPr>
          <p:cNvSpPr/>
          <p:nvPr/>
        </p:nvSpPr>
        <p:spPr>
          <a:xfrm>
            <a:off x="-2584186" y="-87549"/>
            <a:ext cx="1076400" cy="6848272"/>
          </a:xfrm>
          <a:prstGeom prst="rect">
            <a:avLst/>
          </a:prstGeom>
          <a:solidFill>
            <a:schemeClr val="dk1">
              <a:alpha val="5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F9E13F02-1D0F-7971-A684-915C05D3A165}"/>
              </a:ext>
            </a:extLst>
          </p:cNvPr>
          <p:cNvSpPr/>
          <p:nvPr/>
        </p:nvSpPr>
        <p:spPr>
          <a:xfrm>
            <a:off x="-1507786" y="-97277"/>
            <a:ext cx="1076400" cy="6848272"/>
          </a:xfrm>
          <a:prstGeom prst="rect">
            <a:avLst/>
          </a:prstGeom>
          <a:solidFill>
            <a:schemeClr val="dk1">
              <a:alpha val="4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1" name="Title 10">
            <a:extLst>
              <a:ext uri="{FF2B5EF4-FFF2-40B4-BE49-F238E27FC236}">
                <a16:creationId xmlns:a16="http://schemas.microsoft.com/office/drawing/2014/main" id="{581D4508-33D2-E414-3088-56E6A8A83F07}"/>
              </a:ext>
            </a:extLst>
          </p:cNvPr>
          <p:cNvSpPr>
            <a:spLocks noGrp="1"/>
          </p:cNvSpPr>
          <p:nvPr>
            <p:ph type="ctrTitle"/>
          </p:nvPr>
        </p:nvSpPr>
        <p:spPr/>
        <p:txBody>
          <a:bodyPr/>
          <a:lstStyle/>
          <a:p>
            <a:endParaRPr lang="en-IN"/>
          </a:p>
        </p:txBody>
      </p:sp>
    </p:spTree>
    <p:extLst>
      <p:ext uri="{BB962C8B-B14F-4D97-AF65-F5344CB8AC3E}">
        <p14:creationId xmlns:p14="http://schemas.microsoft.com/office/powerpoint/2010/main" val="2982116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2D940-3EC9-9CBF-043F-A8A32B7BB873}"/>
            </a:ext>
          </a:extLst>
        </p:cNvPr>
        <p:cNvGrpSpPr/>
        <p:nvPr/>
      </p:nvGrpSpPr>
      <p:grpSpPr>
        <a:xfrm>
          <a:off x="0" y="0"/>
          <a:ext cx="0" cy="0"/>
          <a:chOff x="0" y="0"/>
          <a:chExt cx="0" cy="0"/>
        </a:xfrm>
      </p:grpSpPr>
      <p:pic>
        <p:nvPicPr>
          <p:cNvPr id="2050" name="Picture 2" descr="This may contain: aadhaar card status and how to check it">
            <a:extLst>
              <a:ext uri="{FF2B5EF4-FFF2-40B4-BE49-F238E27FC236}">
                <a16:creationId xmlns:a16="http://schemas.microsoft.com/office/drawing/2014/main" id="{33461891-4977-886B-A0DC-E149D3EA1CDD}"/>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b="25390"/>
          <a:stretch>
            <a:fillRect/>
          </a:stretch>
        </p:blipFill>
        <p:spPr bwMode="auto">
          <a:xfrm>
            <a:off x="-2318390" y="-87549"/>
            <a:ext cx="16828779"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23BB7A84-6A63-8BC1-40DA-CC13639F461E}"/>
              </a:ext>
            </a:extLst>
          </p:cNvPr>
          <p:cNvSpPr/>
          <p:nvPr/>
        </p:nvSpPr>
        <p:spPr>
          <a:xfrm>
            <a:off x="-243191" y="-87549"/>
            <a:ext cx="1076400" cy="6848272"/>
          </a:xfrm>
          <a:prstGeom prst="rect">
            <a:avLst/>
          </a:prstGeom>
          <a:solidFill>
            <a:schemeClr val="dk1">
              <a:alpha val="9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2993F558-0B0C-9200-65F1-142BB98C0791}"/>
              </a:ext>
            </a:extLst>
          </p:cNvPr>
          <p:cNvSpPr/>
          <p:nvPr/>
        </p:nvSpPr>
        <p:spPr>
          <a:xfrm>
            <a:off x="833209" y="-87549"/>
            <a:ext cx="1076400" cy="6848272"/>
          </a:xfrm>
          <a:prstGeom prst="rect">
            <a:avLst/>
          </a:prstGeom>
          <a:solidFill>
            <a:schemeClr val="dk1">
              <a:alpha val="8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CCDAD912-9553-4388-A485-6445F86A56D4}"/>
              </a:ext>
            </a:extLst>
          </p:cNvPr>
          <p:cNvSpPr/>
          <p:nvPr/>
        </p:nvSpPr>
        <p:spPr>
          <a:xfrm>
            <a:off x="1909609" y="-87549"/>
            <a:ext cx="1076400" cy="6848272"/>
          </a:xfrm>
          <a:prstGeom prst="rect">
            <a:avLst/>
          </a:prstGeom>
          <a:solidFill>
            <a:schemeClr val="dk1">
              <a:alpha val="7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864AEBC2-A0D7-40EE-1339-A9D6537CB4F9}"/>
              </a:ext>
            </a:extLst>
          </p:cNvPr>
          <p:cNvSpPr/>
          <p:nvPr/>
        </p:nvSpPr>
        <p:spPr>
          <a:xfrm>
            <a:off x="2986009" y="-87549"/>
            <a:ext cx="1076400" cy="6848272"/>
          </a:xfrm>
          <a:prstGeom prst="rect">
            <a:avLst/>
          </a:prstGeom>
          <a:solidFill>
            <a:schemeClr val="dk1">
              <a:alpha val="6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B1466FCF-D963-3C11-F44F-FDD68ABFCB96}"/>
              </a:ext>
            </a:extLst>
          </p:cNvPr>
          <p:cNvSpPr/>
          <p:nvPr/>
        </p:nvSpPr>
        <p:spPr>
          <a:xfrm>
            <a:off x="4062409" y="-87549"/>
            <a:ext cx="1076400" cy="6848272"/>
          </a:xfrm>
          <a:prstGeom prst="rect">
            <a:avLst/>
          </a:prstGeom>
          <a:solidFill>
            <a:schemeClr val="dk1">
              <a:alpha val="5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4B9D2B03-2005-84E2-9146-F6A9DCC68559}"/>
              </a:ext>
            </a:extLst>
          </p:cNvPr>
          <p:cNvSpPr/>
          <p:nvPr/>
        </p:nvSpPr>
        <p:spPr>
          <a:xfrm>
            <a:off x="5138809" y="-97277"/>
            <a:ext cx="1076400" cy="6848272"/>
          </a:xfrm>
          <a:prstGeom prst="rect">
            <a:avLst/>
          </a:prstGeom>
          <a:solidFill>
            <a:schemeClr val="dk1">
              <a:alpha val="4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EA650222-082D-8FF7-5E17-BDB4B6D09508}"/>
              </a:ext>
            </a:extLst>
          </p:cNvPr>
          <p:cNvSpPr>
            <a:spLocks noGrp="1"/>
          </p:cNvSpPr>
          <p:nvPr>
            <p:ph type="ctrTitle"/>
          </p:nvPr>
        </p:nvSpPr>
        <p:spPr>
          <a:xfrm>
            <a:off x="-1507786" y="1823936"/>
            <a:ext cx="9144000" cy="2387600"/>
          </a:xfrm>
        </p:spPr>
        <p:txBody>
          <a:bodyPr>
            <a:normAutofit/>
          </a:bodyPr>
          <a:lstStyle/>
          <a:p>
            <a:r>
              <a:rPr lang="en-IN" sz="8000" dirty="0">
                <a:latin typeface="Bahnschrift Condensed" panose="020B0502040204020203" pitchFamily="34" charset="0"/>
              </a:rPr>
              <a:t>UIDAI HACKATHON</a:t>
            </a:r>
          </a:p>
        </p:txBody>
      </p:sp>
      <p:sp>
        <p:nvSpPr>
          <p:cNvPr id="11" name="TextBox 10">
            <a:extLst>
              <a:ext uri="{FF2B5EF4-FFF2-40B4-BE49-F238E27FC236}">
                <a16:creationId xmlns:a16="http://schemas.microsoft.com/office/drawing/2014/main" id="{E338E1DD-9E80-811D-4190-14B6E79939E4}"/>
              </a:ext>
            </a:extLst>
          </p:cNvPr>
          <p:cNvSpPr txBox="1"/>
          <p:nvPr/>
        </p:nvSpPr>
        <p:spPr>
          <a:xfrm>
            <a:off x="213169" y="4211536"/>
            <a:ext cx="2316480" cy="369332"/>
          </a:xfrm>
          <a:prstGeom prst="rect">
            <a:avLst/>
          </a:prstGeom>
          <a:noFill/>
        </p:spPr>
        <p:txBody>
          <a:bodyPr wrap="square">
            <a:spAutoFit/>
          </a:bodyPr>
          <a:lstStyle/>
          <a:p>
            <a:r>
              <a:rPr lang="en-IN" dirty="0"/>
              <a:t>Team ID: UIDAI_2155 </a:t>
            </a:r>
          </a:p>
        </p:txBody>
      </p:sp>
    </p:spTree>
    <p:extLst>
      <p:ext uri="{BB962C8B-B14F-4D97-AF65-F5344CB8AC3E}">
        <p14:creationId xmlns:p14="http://schemas.microsoft.com/office/powerpoint/2010/main" val="11740120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D0F2E-3E11-6D1A-8684-552674D9F3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7C6FE-1D84-FD38-8E48-F40EAFC8CF21}"/>
              </a:ext>
            </a:extLst>
          </p:cNvPr>
          <p:cNvSpPr>
            <a:spLocks noGrp="1"/>
          </p:cNvSpPr>
          <p:nvPr>
            <p:ph type="title"/>
          </p:nvPr>
        </p:nvSpPr>
        <p:spPr>
          <a:xfrm>
            <a:off x="4056840" y="2766219"/>
            <a:ext cx="4078321" cy="1325563"/>
          </a:xfrm>
        </p:spPr>
        <p:txBody>
          <a:bodyPr/>
          <a:lstStyle/>
          <a:p>
            <a:r>
              <a:rPr lang="en-IN" dirty="0">
                <a:latin typeface="Bahnschrift Condensed" panose="020B0502040204020203" pitchFamily="34" charset="0"/>
              </a:rPr>
              <a:t>PROBLEM STATEMENT</a:t>
            </a:r>
          </a:p>
        </p:txBody>
      </p:sp>
    </p:spTree>
    <p:extLst>
      <p:ext uri="{BB962C8B-B14F-4D97-AF65-F5344CB8AC3E}">
        <p14:creationId xmlns:p14="http://schemas.microsoft.com/office/powerpoint/2010/main" val="25967451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4BE0A-B5E0-5A59-E93B-661C6DB077EE}"/>
              </a:ext>
            </a:extLst>
          </p:cNvPr>
          <p:cNvSpPr>
            <a:spLocks noGrp="1"/>
          </p:cNvSpPr>
          <p:nvPr>
            <p:ph type="title"/>
          </p:nvPr>
        </p:nvSpPr>
        <p:spPr>
          <a:xfrm>
            <a:off x="3327265" y="2766219"/>
            <a:ext cx="5537470" cy="1325563"/>
          </a:xfrm>
        </p:spPr>
        <p:txBody>
          <a:bodyPr/>
          <a:lstStyle/>
          <a:p>
            <a:r>
              <a:rPr lang="en-IN" sz="8000" dirty="0">
                <a:latin typeface="Bahnschrift Condensed" panose="020B0502040204020203" pitchFamily="34" charset="0"/>
              </a:rPr>
              <a:t>PROBLEM</a:t>
            </a:r>
            <a:r>
              <a:rPr lang="en-IN" dirty="0">
                <a:latin typeface="Bahnschrift Condensed" panose="020B0502040204020203" pitchFamily="34" charset="0"/>
              </a:rPr>
              <a:t> STATEMENT</a:t>
            </a:r>
          </a:p>
        </p:txBody>
      </p:sp>
    </p:spTree>
    <p:extLst>
      <p:ext uri="{BB962C8B-B14F-4D97-AF65-F5344CB8AC3E}">
        <p14:creationId xmlns:p14="http://schemas.microsoft.com/office/powerpoint/2010/main" val="22438015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is may contain: two men sitting at a table holding up their id cards">
            <a:extLst>
              <a:ext uri="{FF2B5EF4-FFF2-40B4-BE49-F238E27FC236}">
                <a16:creationId xmlns:a16="http://schemas.microsoft.com/office/drawing/2014/main" id="{69F5BC84-0ED7-F9A4-10B1-459CAA7B08F6}"/>
              </a:ext>
            </a:extLst>
          </p:cNvPr>
          <p:cNvPicPr>
            <a:picLocks noChangeAspect="1" noChangeArrowheads="1"/>
          </p:cNvPicPr>
          <p:nvPr/>
        </p:nvPicPr>
        <p:blipFill>
          <a:blip r:embed="rId2">
            <a:alphaModFix amt="28000"/>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EBDA2C63-589E-3ECF-4BBB-E50CC22F8DB3}"/>
              </a:ext>
            </a:extLst>
          </p:cNvPr>
          <p:cNvSpPr>
            <a:spLocks noGrp="1"/>
          </p:cNvSpPr>
          <p:nvPr>
            <p:ph idx="1"/>
          </p:nvPr>
        </p:nvSpPr>
        <p:spPr/>
        <p:txBody>
          <a:bodyPr>
            <a:normAutofit/>
          </a:bodyPr>
          <a:lstStyle/>
          <a:p>
            <a:r>
              <a:rPr lang="en-US" sz="3200" dirty="0">
                <a:latin typeface="Bahnschrift Condensed" panose="020B0502040204020203" pitchFamily="34" charset="0"/>
              </a:rPr>
              <a:t>The Aadhaar ecosystem currently relies on volume-based reporting that creates a "false equivalence" between disparate operational tasks. This presents the issue that, by treating a labor-intensive fresh enrolment as essentially equivalent to a fast demographic update, the current model disguises actual operator workloads, as well as important information on migration. There is a lack of granularity, which is evidenced by resource asymmetry, where hardware allocation does not take into consideration complexity, as well as an ineffective reactive approach in dealing with fraud as a post-facto issue.</a:t>
            </a:r>
            <a:endParaRPr lang="en-IN" sz="3200" dirty="0">
              <a:latin typeface="Bahnschrift Condensed" panose="020B0502040204020203" pitchFamily="34" charset="0"/>
            </a:endParaRPr>
          </a:p>
        </p:txBody>
      </p:sp>
    </p:spTree>
    <p:extLst>
      <p:ext uri="{BB962C8B-B14F-4D97-AF65-F5344CB8AC3E}">
        <p14:creationId xmlns:p14="http://schemas.microsoft.com/office/powerpoint/2010/main" val="18192922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6928A-B4B9-857D-52A0-D4545526AC49}"/>
              </a:ext>
            </a:extLst>
          </p:cNvPr>
          <p:cNvSpPr>
            <a:spLocks noGrp="1"/>
          </p:cNvSpPr>
          <p:nvPr>
            <p:ph type="title"/>
          </p:nvPr>
        </p:nvSpPr>
        <p:spPr>
          <a:xfrm>
            <a:off x="3467100" y="2766219"/>
            <a:ext cx="5257800" cy="1325563"/>
          </a:xfrm>
        </p:spPr>
        <p:txBody>
          <a:bodyPr>
            <a:normAutofit/>
          </a:bodyPr>
          <a:lstStyle/>
          <a:p>
            <a:r>
              <a:rPr lang="en-IN" sz="8000" dirty="0">
                <a:latin typeface="Bahnschrift Condensed" panose="020B0502040204020203" pitchFamily="34" charset="0"/>
              </a:rPr>
              <a:t>DATASET USED</a:t>
            </a:r>
          </a:p>
        </p:txBody>
      </p:sp>
    </p:spTree>
    <p:extLst>
      <p:ext uri="{BB962C8B-B14F-4D97-AF65-F5344CB8AC3E}">
        <p14:creationId xmlns:p14="http://schemas.microsoft.com/office/powerpoint/2010/main" val="1245330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07578A6C-290C-824C-9EF0-92A87EFD6C39}"/>
              </a:ext>
            </a:extLst>
          </p:cNvPr>
          <p:cNvGrpSpPr/>
          <p:nvPr/>
        </p:nvGrpSpPr>
        <p:grpSpPr>
          <a:xfrm>
            <a:off x="3333479" y="1308144"/>
            <a:ext cx="5368469" cy="4843159"/>
            <a:chOff x="3538282" y="901553"/>
            <a:chExt cx="3965984" cy="3974221"/>
          </a:xfrm>
        </p:grpSpPr>
        <p:sp>
          <p:nvSpPr>
            <p:cNvPr id="30" name="Freeform: Shape 29">
              <a:extLst>
                <a:ext uri="{FF2B5EF4-FFF2-40B4-BE49-F238E27FC236}">
                  <a16:creationId xmlns:a16="http://schemas.microsoft.com/office/drawing/2014/main" id="{4E691E04-3EE4-1B08-9FDC-6F609E16A26C}"/>
                </a:ext>
              </a:extLst>
            </p:cNvPr>
            <p:cNvSpPr/>
            <p:nvPr/>
          </p:nvSpPr>
          <p:spPr>
            <a:xfrm rot="16200000">
              <a:off x="3074907" y="2382045"/>
              <a:ext cx="2960657" cy="2026801"/>
            </a:xfrm>
            <a:custGeom>
              <a:avLst/>
              <a:gdLst>
                <a:gd name="csX0" fmla="*/ 837213 w 2960657"/>
                <a:gd name="csY0" fmla="*/ 1521141 h 2026801"/>
                <a:gd name="csX1" fmla="*/ 816993 w 2960657"/>
                <a:gd name="csY1" fmla="*/ 1506678 h 2026801"/>
                <a:gd name="csX2" fmla="*/ 816993 w 2960657"/>
                <a:gd name="csY2" fmla="*/ 1506679 h 2026801"/>
                <a:gd name="csX3" fmla="*/ 865538 w 2960657"/>
                <a:gd name="csY3" fmla="*/ 1541400 h 2026801"/>
                <a:gd name="csX4" fmla="*/ 837213 w 2960657"/>
                <a:gd name="csY4" fmla="*/ 1521141 h 2026801"/>
                <a:gd name="csX5" fmla="*/ 865537 w 2960657"/>
                <a:gd name="csY5" fmla="*/ 1541399 h 2026801"/>
                <a:gd name="csX6" fmla="*/ 1015558 w 2960657"/>
                <a:gd name="csY6" fmla="*/ 1576684 h 2026801"/>
                <a:gd name="csX7" fmla="*/ 1015558 w 2960657"/>
                <a:gd name="csY7" fmla="*/ 1576684 h 2026801"/>
                <a:gd name="csX8" fmla="*/ 887882 w 2960657"/>
                <a:gd name="csY8" fmla="*/ 1554339 h 2026801"/>
                <a:gd name="csX9" fmla="*/ 869721 w 2960657"/>
                <a:gd name="csY9" fmla="*/ 1545794 h 2026801"/>
                <a:gd name="csX10" fmla="*/ 869720 w 2960657"/>
                <a:gd name="csY10" fmla="*/ 1545794 h 2026801"/>
                <a:gd name="csX11" fmla="*/ 887883 w 2960657"/>
                <a:gd name="csY11" fmla="*/ 1554339 h 2026801"/>
                <a:gd name="csX12" fmla="*/ 949453 w 2960657"/>
                <a:gd name="csY12" fmla="*/ 1570907 h 2026801"/>
                <a:gd name="csX13" fmla="*/ 1393200 w 2960657"/>
                <a:gd name="csY13" fmla="*/ 2026801 h 2026801"/>
                <a:gd name="csX14" fmla="*/ 633600 w 2960657"/>
                <a:gd name="csY14" fmla="*/ 2026801 h 2026801"/>
                <a:gd name="csX15" fmla="*/ 633606 w 2960657"/>
                <a:gd name="csY15" fmla="*/ 2026800 h 2026801"/>
                <a:gd name="csX16" fmla="*/ 1393194 w 2960657"/>
                <a:gd name="csY16" fmla="*/ 2026800 h 2026801"/>
                <a:gd name="csX17" fmla="*/ 2422864 w 2960657"/>
                <a:gd name="csY17" fmla="*/ 869720 h 2026801"/>
                <a:gd name="csX18" fmla="*/ 2414318 w 2960657"/>
                <a:gd name="csY18" fmla="*/ 887882 h 2026801"/>
                <a:gd name="csX19" fmla="*/ 2391973 w 2960657"/>
                <a:gd name="csY19" fmla="*/ 1015558 h 2026801"/>
                <a:gd name="csX20" fmla="*/ 2414318 w 2960657"/>
                <a:gd name="csY20" fmla="*/ 1143234 h 2026801"/>
                <a:gd name="csX21" fmla="*/ 2419187 w 2960657"/>
                <a:gd name="csY21" fmla="*/ 1153580 h 2026801"/>
                <a:gd name="csX22" fmla="*/ 2385177 w 2960657"/>
                <a:gd name="csY22" fmla="*/ 1121210 h 2026801"/>
                <a:gd name="csX23" fmla="*/ 2226198 w 2960657"/>
                <a:gd name="csY23" fmla="*/ 1065191 h 2026801"/>
                <a:gd name="csX24" fmla="*/ 2067220 w 2960657"/>
                <a:gd name="csY24" fmla="*/ 1121210 h 2026801"/>
                <a:gd name="csX25" fmla="*/ 2026800 w 2960657"/>
                <a:gd name="csY25" fmla="*/ 1159681 h 2026801"/>
                <a:gd name="csX26" fmla="*/ 2026800 w 2960657"/>
                <a:gd name="csY26" fmla="*/ 1688993 h 2026801"/>
                <a:gd name="csX27" fmla="*/ 1688993 w 2960657"/>
                <a:gd name="csY27" fmla="*/ 2026800 h 2026801"/>
                <a:gd name="csX28" fmla="*/ 1393194 w 2960657"/>
                <a:gd name="csY28" fmla="*/ 2026800 h 2026801"/>
                <a:gd name="csX29" fmla="*/ 1327095 w 2960657"/>
                <a:gd name="csY29" fmla="*/ 2021024 h 2026801"/>
                <a:gd name="csX30" fmla="*/ 1065191 w 2960657"/>
                <a:gd name="csY30" fmla="*/ 1742459 h 2026801"/>
                <a:gd name="csX31" fmla="*/ 1121210 w 2960657"/>
                <a:gd name="csY31" fmla="*/ 1583481 h 2026801"/>
                <a:gd name="csX32" fmla="*/ 1153581 w 2960657"/>
                <a:gd name="csY32" fmla="*/ 1549471 h 2026801"/>
                <a:gd name="csX33" fmla="*/ 1198951 w 2960657"/>
                <a:gd name="csY33" fmla="*/ 1528123 h 2026801"/>
                <a:gd name="csX34" fmla="*/ 1247495 w 2960657"/>
                <a:gd name="csY34" fmla="*/ 1493403 h 2026801"/>
                <a:gd name="csX35" fmla="*/ 1255178 w 2960657"/>
                <a:gd name="csY35" fmla="*/ 1485331 h 2026801"/>
                <a:gd name="csX36" fmla="*/ 1209807 w 2960657"/>
                <a:gd name="csY36" fmla="*/ 1506679 h 2026801"/>
                <a:gd name="csX37" fmla="*/ 1161263 w 2960657"/>
                <a:gd name="csY37" fmla="*/ 1541400 h 2026801"/>
                <a:gd name="csX38" fmla="*/ 1153580 w 2960657"/>
                <a:gd name="csY38" fmla="*/ 1549471 h 2026801"/>
                <a:gd name="csX39" fmla="*/ 1143234 w 2960657"/>
                <a:gd name="csY39" fmla="*/ 1554339 h 2026801"/>
                <a:gd name="csX40" fmla="*/ 1015558 w 2960657"/>
                <a:gd name="csY40" fmla="*/ 1576684 h 2026801"/>
                <a:gd name="csX41" fmla="*/ 1015558 w 2960657"/>
                <a:gd name="csY41" fmla="*/ 1576684 h 2026801"/>
                <a:gd name="csX42" fmla="*/ 1081663 w 2960657"/>
                <a:gd name="csY42" fmla="*/ 1570907 h 2026801"/>
                <a:gd name="csX43" fmla="*/ 1143233 w 2960657"/>
                <a:gd name="csY43" fmla="*/ 1554339 h 2026801"/>
                <a:gd name="csX44" fmla="*/ 1153580 w 2960657"/>
                <a:gd name="csY44" fmla="*/ 1549471 h 2026801"/>
                <a:gd name="csX45" fmla="*/ 1161263 w 2960657"/>
                <a:gd name="csY45" fmla="*/ 1541399 h 2026801"/>
                <a:gd name="csX46" fmla="*/ 1209807 w 2960657"/>
                <a:gd name="csY46" fmla="*/ 1506678 h 2026801"/>
                <a:gd name="csX47" fmla="*/ 1255178 w 2960657"/>
                <a:gd name="csY47" fmla="*/ 1485331 h 2026801"/>
                <a:gd name="csX48" fmla="*/ 1287548 w 2960657"/>
                <a:gd name="csY48" fmla="*/ 1451321 h 2026801"/>
                <a:gd name="csX49" fmla="*/ 1343567 w 2960657"/>
                <a:gd name="csY49" fmla="*/ 1292343 h 2026801"/>
                <a:gd name="csX50" fmla="*/ 1015558 w 2960657"/>
                <a:gd name="csY50" fmla="*/ 1008001 h 2026801"/>
                <a:gd name="csX51" fmla="*/ 687548 w 2960657"/>
                <a:gd name="csY51" fmla="*/ 1292343 h 2026801"/>
                <a:gd name="csX52" fmla="*/ 743567 w 2960657"/>
                <a:gd name="csY52" fmla="*/ 1451321 h 2026801"/>
                <a:gd name="csX53" fmla="*/ 779438 w 2960657"/>
                <a:gd name="csY53" fmla="*/ 1489008 h 2026801"/>
                <a:gd name="csX54" fmla="*/ 816993 w 2960657"/>
                <a:gd name="csY54" fmla="*/ 1506678 h 2026801"/>
                <a:gd name="csX55" fmla="*/ 779438 w 2960657"/>
                <a:gd name="csY55" fmla="*/ 1489008 h 2026801"/>
                <a:gd name="csX56" fmla="*/ 783621 w 2960657"/>
                <a:gd name="csY56" fmla="*/ 1493402 h 2026801"/>
                <a:gd name="csX57" fmla="*/ 832165 w 2960657"/>
                <a:gd name="csY57" fmla="*/ 1528124 h 2026801"/>
                <a:gd name="csX58" fmla="*/ 869720 w 2960657"/>
                <a:gd name="csY58" fmla="*/ 1545794 h 2026801"/>
                <a:gd name="csX59" fmla="*/ 869720 w 2960657"/>
                <a:gd name="csY59" fmla="*/ 1545794 h 2026801"/>
                <a:gd name="csX60" fmla="*/ 869721 w 2960657"/>
                <a:gd name="csY60" fmla="*/ 1545794 h 2026801"/>
                <a:gd name="csX61" fmla="*/ 905591 w 2960657"/>
                <a:gd name="csY61" fmla="*/ 1583481 h 2026801"/>
                <a:gd name="csX62" fmla="*/ 961610 w 2960657"/>
                <a:gd name="csY62" fmla="*/ 1742459 h 2026801"/>
                <a:gd name="csX63" fmla="*/ 699706 w 2960657"/>
                <a:gd name="csY63" fmla="*/ 2021024 h 2026801"/>
                <a:gd name="csX64" fmla="*/ 633606 w 2960657"/>
                <a:gd name="csY64" fmla="*/ 2026800 h 2026801"/>
                <a:gd name="csX65" fmla="*/ 337807 w 2960657"/>
                <a:gd name="csY65" fmla="*/ 2026800 h 2026801"/>
                <a:gd name="csX66" fmla="*/ 0 w 2960657"/>
                <a:gd name="csY66" fmla="*/ 1688993 h 2026801"/>
                <a:gd name="csX67" fmla="*/ 0 w 2960657"/>
                <a:gd name="csY67" fmla="*/ 337807 h 2026801"/>
                <a:gd name="csX68" fmla="*/ 337807 w 2960657"/>
                <a:gd name="csY68" fmla="*/ 0 h 2026801"/>
                <a:gd name="csX69" fmla="*/ 1688993 w 2960657"/>
                <a:gd name="csY69" fmla="*/ 0 h 2026801"/>
                <a:gd name="csX70" fmla="*/ 2026800 w 2960657"/>
                <a:gd name="csY70" fmla="*/ 337807 h 2026801"/>
                <a:gd name="csX71" fmla="*/ 2026800 w 2960657"/>
                <a:gd name="csY71" fmla="*/ 867119 h 2026801"/>
                <a:gd name="csX72" fmla="*/ 2067220 w 2960657"/>
                <a:gd name="csY72" fmla="*/ 905591 h 2026801"/>
                <a:gd name="csX73" fmla="*/ 2226198 w 2960657"/>
                <a:gd name="csY73" fmla="*/ 961609 h 2026801"/>
                <a:gd name="csX74" fmla="*/ 2385177 w 2960657"/>
                <a:gd name="csY74" fmla="*/ 905591 h 2026801"/>
                <a:gd name="csX75" fmla="*/ 2446842 w 2960657"/>
                <a:gd name="csY75" fmla="*/ 838157 h 2026801"/>
                <a:gd name="csX76" fmla="*/ 2427258 w 2960657"/>
                <a:gd name="csY76" fmla="*/ 865538 h 2026801"/>
                <a:gd name="csX77" fmla="*/ 2427259 w 2960657"/>
                <a:gd name="csY77" fmla="*/ 865537 h 2026801"/>
                <a:gd name="csX78" fmla="*/ 2483327 w 2960657"/>
                <a:gd name="csY78" fmla="*/ 1255178 h 2026801"/>
                <a:gd name="csX79" fmla="*/ 2475255 w 2960657"/>
                <a:gd name="csY79" fmla="*/ 1247495 h 2026801"/>
                <a:gd name="csX80" fmla="*/ 2440535 w 2960657"/>
                <a:gd name="csY80" fmla="*/ 1198951 h 2026801"/>
                <a:gd name="csX81" fmla="*/ 2419187 w 2960657"/>
                <a:gd name="csY81" fmla="*/ 1153580 h 2026801"/>
                <a:gd name="csX82" fmla="*/ 2427258 w 2960657"/>
                <a:gd name="csY82" fmla="*/ 1161263 h 2026801"/>
                <a:gd name="csX83" fmla="*/ 2461979 w 2960657"/>
                <a:gd name="csY83" fmla="*/ 1209807 h 2026801"/>
                <a:gd name="csX84" fmla="*/ 2960657 w 2960657"/>
                <a:gd name="csY84" fmla="*/ 1015558 h 2026801"/>
                <a:gd name="csX85" fmla="*/ 2676315 w 2960657"/>
                <a:gd name="csY85" fmla="*/ 1343567 h 2026801"/>
                <a:gd name="csX86" fmla="*/ 2517337 w 2960657"/>
                <a:gd name="csY86" fmla="*/ 1287548 h 2026801"/>
                <a:gd name="csX87" fmla="*/ 2483327 w 2960657"/>
                <a:gd name="csY87" fmla="*/ 1255178 h 2026801"/>
                <a:gd name="csX88" fmla="*/ 2461980 w 2960657"/>
                <a:gd name="csY88" fmla="*/ 1209807 h 2026801"/>
                <a:gd name="csX89" fmla="*/ 2427259 w 2960657"/>
                <a:gd name="csY89" fmla="*/ 1161263 h 2026801"/>
                <a:gd name="csX90" fmla="*/ 2419187 w 2960657"/>
                <a:gd name="csY90" fmla="*/ 1153580 h 2026801"/>
                <a:gd name="csX91" fmla="*/ 2414319 w 2960657"/>
                <a:gd name="csY91" fmla="*/ 1143233 h 2026801"/>
                <a:gd name="csX92" fmla="*/ 2391974 w 2960657"/>
                <a:gd name="csY92" fmla="*/ 1015558 h 2026801"/>
                <a:gd name="csX93" fmla="*/ 2414319 w 2960657"/>
                <a:gd name="csY93" fmla="*/ 887882 h 2026801"/>
                <a:gd name="csX94" fmla="*/ 2422864 w 2960657"/>
                <a:gd name="csY94" fmla="*/ 869720 h 2026801"/>
                <a:gd name="csX95" fmla="*/ 2440534 w 2960657"/>
                <a:gd name="csY95" fmla="*/ 832165 h 2026801"/>
                <a:gd name="csX96" fmla="*/ 2475256 w 2960657"/>
                <a:gd name="csY96" fmla="*/ 783621 h 2026801"/>
                <a:gd name="csX97" fmla="*/ 2479650 w 2960657"/>
                <a:gd name="csY97" fmla="*/ 779438 h 2026801"/>
                <a:gd name="csX98" fmla="*/ 2517337 w 2960657"/>
                <a:gd name="csY98" fmla="*/ 743567 h 2026801"/>
                <a:gd name="csX99" fmla="*/ 2676315 w 2960657"/>
                <a:gd name="csY99" fmla="*/ 687548 h 2026801"/>
                <a:gd name="csX100" fmla="*/ 2960657 w 2960657"/>
                <a:gd name="csY100" fmla="*/ 1015558 h 20268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2960657" h="2026801">
                  <a:moveTo>
                    <a:pt x="837213" y="1521141"/>
                  </a:moveTo>
                  <a:lnTo>
                    <a:pt x="816993" y="1506678"/>
                  </a:lnTo>
                  <a:lnTo>
                    <a:pt x="816993" y="1506679"/>
                  </a:lnTo>
                  <a:close/>
                  <a:moveTo>
                    <a:pt x="865538" y="1541400"/>
                  </a:moveTo>
                  <a:lnTo>
                    <a:pt x="837213" y="1521141"/>
                  </a:lnTo>
                  <a:lnTo>
                    <a:pt x="865537" y="1541399"/>
                  </a:lnTo>
                  <a:close/>
                  <a:moveTo>
                    <a:pt x="1015558" y="1576684"/>
                  </a:moveTo>
                  <a:lnTo>
                    <a:pt x="1015558" y="1576684"/>
                  </a:lnTo>
                  <a:cubicBezTo>
                    <a:pt x="970269" y="1576684"/>
                    <a:pt x="927124" y="1568728"/>
                    <a:pt x="887882" y="1554339"/>
                  </a:cubicBezTo>
                  <a:lnTo>
                    <a:pt x="869721" y="1545794"/>
                  </a:lnTo>
                  <a:lnTo>
                    <a:pt x="869720" y="1545794"/>
                  </a:lnTo>
                  <a:lnTo>
                    <a:pt x="887883" y="1554339"/>
                  </a:lnTo>
                  <a:cubicBezTo>
                    <a:pt x="907504" y="1561533"/>
                    <a:pt x="928100" y="1567120"/>
                    <a:pt x="949453" y="1570907"/>
                  </a:cubicBezTo>
                  <a:close/>
                  <a:moveTo>
                    <a:pt x="1393200" y="2026801"/>
                  </a:moveTo>
                  <a:lnTo>
                    <a:pt x="633600" y="2026801"/>
                  </a:lnTo>
                  <a:lnTo>
                    <a:pt x="633606" y="2026800"/>
                  </a:lnTo>
                  <a:lnTo>
                    <a:pt x="1393194" y="2026800"/>
                  </a:lnTo>
                  <a:close/>
                  <a:moveTo>
                    <a:pt x="2422864" y="869720"/>
                  </a:moveTo>
                  <a:lnTo>
                    <a:pt x="2414318" y="887882"/>
                  </a:lnTo>
                  <a:cubicBezTo>
                    <a:pt x="2399930" y="927124"/>
                    <a:pt x="2391973" y="970269"/>
                    <a:pt x="2391973" y="1015558"/>
                  </a:cubicBezTo>
                  <a:cubicBezTo>
                    <a:pt x="2391973" y="1060846"/>
                    <a:pt x="2399930" y="1103992"/>
                    <a:pt x="2414318" y="1143234"/>
                  </a:cubicBezTo>
                  <a:lnTo>
                    <a:pt x="2419187" y="1153580"/>
                  </a:lnTo>
                  <a:lnTo>
                    <a:pt x="2385177" y="1121210"/>
                  </a:lnTo>
                  <a:cubicBezTo>
                    <a:pt x="2339795" y="1085842"/>
                    <a:pt x="2285087" y="1065191"/>
                    <a:pt x="2226198" y="1065191"/>
                  </a:cubicBezTo>
                  <a:cubicBezTo>
                    <a:pt x="2167309" y="1065191"/>
                    <a:pt x="2112602" y="1085842"/>
                    <a:pt x="2067220" y="1121210"/>
                  </a:cubicBezTo>
                  <a:lnTo>
                    <a:pt x="2026800" y="1159681"/>
                  </a:lnTo>
                  <a:lnTo>
                    <a:pt x="2026800" y="1688993"/>
                  </a:lnTo>
                  <a:cubicBezTo>
                    <a:pt x="2026800" y="1875559"/>
                    <a:pt x="1875559" y="2026800"/>
                    <a:pt x="1688993" y="2026800"/>
                  </a:cubicBezTo>
                  <a:lnTo>
                    <a:pt x="1393194" y="2026800"/>
                  </a:lnTo>
                  <a:lnTo>
                    <a:pt x="1327095" y="2021024"/>
                  </a:lnTo>
                  <a:cubicBezTo>
                    <a:pt x="1177627" y="1994510"/>
                    <a:pt x="1065191" y="1879867"/>
                    <a:pt x="1065191" y="1742459"/>
                  </a:cubicBezTo>
                  <a:cubicBezTo>
                    <a:pt x="1065191" y="1683570"/>
                    <a:pt x="1085843" y="1628863"/>
                    <a:pt x="1121210" y="1583481"/>
                  </a:cubicBezTo>
                  <a:lnTo>
                    <a:pt x="1153581" y="1549471"/>
                  </a:lnTo>
                  <a:lnTo>
                    <a:pt x="1198951" y="1528123"/>
                  </a:lnTo>
                  <a:cubicBezTo>
                    <a:pt x="1216402" y="1517904"/>
                    <a:pt x="1232656" y="1506267"/>
                    <a:pt x="1247495" y="1493403"/>
                  </a:cubicBezTo>
                  <a:lnTo>
                    <a:pt x="1255178" y="1485331"/>
                  </a:lnTo>
                  <a:lnTo>
                    <a:pt x="1209807" y="1506679"/>
                  </a:lnTo>
                  <a:cubicBezTo>
                    <a:pt x="1192357" y="1516899"/>
                    <a:pt x="1176102" y="1528536"/>
                    <a:pt x="1161263" y="1541400"/>
                  </a:cubicBezTo>
                  <a:lnTo>
                    <a:pt x="1153580" y="1549471"/>
                  </a:lnTo>
                  <a:lnTo>
                    <a:pt x="1143234" y="1554339"/>
                  </a:lnTo>
                  <a:cubicBezTo>
                    <a:pt x="1103992" y="1568728"/>
                    <a:pt x="1060847" y="1576684"/>
                    <a:pt x="1015558" y="1576684"/>
                  </a:cubicBezTo>
                  <a:lnTo>
                    <a:pt x="1015558" y="1576684"/>
                  </a:lnTo>
                  <a:lnTo>
                    <a:pt x="1081663" y="1570907"/>
                  </a:lnTo>
                  <a:cubicBezTo>
                    <a:pt x="1103016" y="1567120"/>
                    <a:pt x="1123612" y="1561533"/>
                    <a:pt x="1143233" y="1554339"/>
                  </a:cubicBezTo>
                  <a:lnTo>
                    <a:pt x="1153580" y="1549471"/>
                  </a:lnTo>
                  <a:lnTo>
                    <a:pt x="1161263" y="1541399"/>
                  </a:lnTo>
                  <a:cubicBezTo>
                    <a:pt x="1176102" y="1528535"/>
                    <a:pt x="1192356" y="1516898"/>
                    <a:pt x="1209807" y="1506678"/>
                  </a:cubicBezTo>
                  <a:lnTo>
                    <a:pt x="1255178" y="1485331"/>
                  </a:lnTo>
                  <a:lnTo>
                    <a:pt x="1287548" y="1451321"/>
                  </a:lnTo>
                  <a:cubicBezTo>
                    <a:pt x="1322916" y="1405940"/>
                    <a:pt x="1343567" y="1351232"/>
                    <a:pt x="1343567" y="1292343"/>
                  </a:cubicBezTo>
                  <a:cubicBezTo>
                    <a:pt x="1343567" y="1135305"/>
                    <a:pt x="1196712" y="1008001"/>
                    <a:pt x="1015558" y="1008001"/>
                  </a:cubicBezTo>
                  <a:cubicBezTo>
                    <a:pt x="834403" y="1008001"/>
                    <a:pt x="687548" y="1135305"/>
                    <a:pt x="687548" y="1292343"/>
                  </a:cubicBezTo>
                  <a:cubicBezTo>
                    <a:pt x="687548" y="1351232"/>
                    <a:pt x="708200" y="1405940"/>
                    <a:pt x="743567" y="1451321"/>
                  </a:cubicBezTo>
                  <a:lnTo>
                    <a:pt x="779438" y="1489008"/>
                  </a:lnTo>
                  <a:lnTo>
                    <a:pt x="816993" y="1506678"/>
                  </a:lnTo>
                  <a:lnTo>
                    <a:pt x="779438" y="1489008"/>
                  </a:lnTo>
                  <a:lnTo>
                    <a:pt x="783621" y="1493402"/>
                  </a:lnTo>
                  <a:cubicBezTo>
                    <a:pt x="798460" y="1506266"/>
                    <a:pt x="814714" y="1517904"/>
                    <a:pt x="832165" y="1528124"/>
                  </a:cubicBezTo>
                  <a:lnTo>
                    <a:pt x="869720" y="1545794"/>
                  </a:lnTo>
                  <a:lnTo>
                    <a:pt x="869720" y="1545794"/>
                  </a:lnTo>
                  <a:lnTo>
                    <a:pt x="869721" y="1545794"/>
                  </a:lnTo>
                  <a:lnTo>
                    <a:pt x="905591" y="1583481"/>
                  </a:lnTo>
                  <a:cubicBezTo>
                    <a:pt x="940958" y="1628863"/>
                    <a:pt x="961610" y="1683570"/>
                    <a:pt x="961610" y="1742459"/>
                  </a:cubicBezTo>
                  <a:cubicBezTo>
                    <a:pt x="961610" y="1879867"/>
                    <a:pt x="849174" y="1994510"/>
                    <a:pt x="699706" y="2021024"/>
                  </a:cubicBezTo>
                  <a:lnTo>
                    <a:pt x="633606" y="2026800"/>
                  </a:lnTo>
                  <a:lnTo>
                    <a:pt x="337807" y="2026800"/>
                  </a:lnTo>
                  <a:cubicBezTo>
                    <a:pt x="151241" y="2026800"/>
                    <a:pt x="0" y="1875559"/>
                    <a:pt x="0" y="1688993"/>
                  </a:cubicBezTo>
                  <a:lnTo>
                    <a:pt x="0" y="337807"/>
                  </a:lnTo>
                  <a:cubicBezTo>
                    <a:pt x="0" y="151241"/>
                    <a:pt x="151241" y="0"/>
                    <a:pt x="337807" y="0"/>
                  </a:cubicBezTo>
                  <a:lnTo>
                    <a:pt x="1688993" y="0"/>
                  </a:lnTo>
                  <a:cubicBezTo>
                    <a:pt x="1875559" y="0"/>
                    <a:pt x="2026800" y="151241"/>
                    <a:pt x="2026800" y="337807"/>
                  </a:cubicBezTo>
                  <a:lnTo>
                    <a:pt x="2026800" y="867119"/>
                  </a:lnTo>
                  <a:lnTo>
                    <a:pt x="2067220" y="905591"/>
                  </a:lnTo>
                  <a:cubicBezTo>
                    <a:pt x="2112602" y="940958"/>
                    <a:pt x="2167309" y="961609"/>
                    <a:pt x="2226198" y="961609"/>
                  </a:cubicBezTo>
                  <a:cubicBezTo>
                    <a:pt x="2285087" y="961609"/>
                    <a:pt x="2339795" y="940958"/>
                    <a:pt x="2385177" y="905591"/>
                  </a:cubicBezTo>
                  <a:close/>
                  <a:moveTo>
                    <a:pt x="2446842" y="838157"/>
                  </a:moveTo>
                  <a:lnTo>
                    <a:pt x="2427258" y="865538"/>
                  </a:lnTo>
                  <a:lnTo>
                    <a:pt x="2427259" y="865537"/>
                  </a:lnTo>
                  <a:close/>
                  <a:moveTo>
                    <a:pt x="2483327" y="1255178"/>
                  </a:moveTo>
                  <a:lnTo>
                    <a:pt x="2475255" y="1247495"/>
                  </a:lnTo>
                  <a:cubicBezTo>
                    <a:pt x="2462391" y="1232656"/>
                    <a:pt x="2450754" y="1216402"/>
                    <a:pt x="2440535" y="1198951"/>
                  </a:cubicBezTo>
                  <a:lnTo>
                    <a:pt x="2419187" y="1153580"/>
                  </a:lnTo>
                  <a:lnTo>
                    <a:pt x="2427258" y="1161263"/>
                  </a:lnTo>
                  <a:cubicBezTo>
                    <a:pt x="2440122" y="1176102"/>
                    <a:pt x="2451759" y="1192357"/>
                    <a:pt x="2461979" y="1209807"/>
                  </a:cubicBezTo>
                  <a:close/>
                  <a:moveTo>
                    <a:pt x="2960657" y="1015558"/>
                  </a:moveTo>
                  <a:cubicBezTo>
                    <a:pt x="2960657" y="1196712"/>
                    <a:pt x="2833353" y="1343567"/>
                    <a:pt x="2676315" y="1343567"/>
                  </a:cubicBezTo>
                  <a:cubicBezTo>
                    <a:pt x="2617426" y="1343567"/>
                    <a:pt x="2562718" y="1322916"/>
                    <a:pt x="2517337" y="1287548"/>
                  </a:cubicBezTo>
                  <a:lnTo>
                    <a:pt x="2483327" y="1255178"/>
                  </a:lnTo>
                  <a:lnTo>
                    <a:pt x="2461980" y="1209807"/>
                  </a:lnTo>
                  <a:cubicBezTo>
                    <a:pt x="2451760" y="1192356"/>
                    <a:pt x="2440123" y="1176102"/>
                    <a:pt x="2427259" y="1161263"/>
                  </a:cubicBezTo>
                  <a:lnTo>
                    <a:pt x="2419187" y="1153580"/>
                  </a:lnTo>
                  <a:lnTo>
                    <a:pt x="2414319" y="1143233"/>
                  </a:lnTo>
                  <a:cubicBezTo>
                    <a:pt x="2399930" y="1103991"/>
                    <a:pt x="2391974" y="1060846"/>
                    <a:pt x="2391974" y="1015558"/>
                  </a:cubicBezTo>
                  <a:cubicBezTo>
                    <a:pt x="2391974" y="970269"/>
                    <a:pt x="2399930" y="927124"/>
                    <a:pt x="2414319" y="887882"/>
                  </a:cubicBezTo>
                  <a:lnTo>
                    <a:pt x="2422864" y="869720"/>
                  </a:lnTo>
                  <a:lnTo>
                    <a:pt x="2440534" y="832165"/>
                  </a:lnTo>
                  <a:cubicBezTo>
                    <a:pt x="2450754" y="814714"/>
                    <a:pt x="2462392" y="798460"/>
                    <a:pt x="2475256" y="783621"/>
                  </a:cubicBezTo>
                  <a:lnTo>
                    <a:pt x="2479650" y="779438"/>
                  </a:lnTo>
                  <a:lnTo>
                    <a:pt x="2517337" y="743567"/>
                  </a:lnTo>
                  <a:cubicBezTo>
                    <a:pt x="2562718" y="708200"/>
                    <a:pt x="2617426" y="687548"/>
                    <a:pt x="2676315" y="687548"/>
                  </a:cubicBezTo>
                  <a:cubicBezTo>
                    <a:pt x="2833353" y="687548"/>
                    <a:pt x="2960657" y="834403"/>
                    <a:pt x="2960657" y="1015558"/>
                  </a:cubicBez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31" name="Freeform: Shape 30">
              <a:extLst>
                <a:ext uri="{FF2B5EF4-FFF2-40B4-BE49-F238E27FC236}">
                  <a16:creationId xmlns:a16="http://schemas.microsoft.com/office/drawing/2014/main" id="{63A4066C-71A3-8605-6810-31E95082F987}"/>
                </a:ext>
              </a:extLst>
            </p:cNvPr>
            <p:cNvSpPr/>
            <p:nvPr/>
          </p:nvSpPr>
          <p:spPr>
            <a:xfrm rot="10800000">
              <a:off x="4543609" y="2848810"/>
              <a:ext cx="2960657" cy="2026801"/>
            </a:xfrm>
            <a:custGeom>
              <a:avLst/>
              <a:gdLst>
                <a:gd name="csX0" fmla="*/ 837213 w 2960657"/>
                <a:gd name="csY0" fmla="*/ 1521141 h 2026801"/>
                <a:gd name="csX1" fmla="*/ 816993 w 2960657"/>
                <a:gd name="csY1" fmla="*/ 1506678 h 2026801"/>
                <a:gd name="csX2" fmla="*/ 816993 w 2960657"/>
                <a:gd name="csY2" fmla="*/ 1506679 h 2026801"/>
                <a:gd name="csX3" fmla="*/ 865538 w 2960657"/>
                <a:gd name="csY3" fmla="*/ 1541400 h 2026801"/>
                <a:gd name="csX4" fmla="*/ 837213 w 2960657"/>
                <a:gd name="csY4" fmla="*/ 1521141 h 2026801"/>
                <a:gd name="csX5" fmla="*/ 865537 w 2960657"/>
                <a:gd name="csY5" fmla="*/ 1541399 h 2026801"/>
                <a:gd name="csX6" fmla="*/ 1015558 w 2960657"/>
                <a:gd name="csY6" fmla="*/ 1576684 h 2026801"/>
                <a:gd name="csX7" fmla="*/ 1015558 w 2960657"/>
                <a:gd name="csY7" fmla="*/ 1576684 h 2026801"/>
                <a:gd name="csX8" fmla="*/ 887882 w 2960657"/>
                <a:gd name="csY8" fmla="*/ 1554339 h 2026801"/>
                <a:gd name="csX9" fmla="*/ 869721 w 2960657"/>
                <a:gd name="csY9" fmla="*/ 1545794 h 2026801"/>
                <a:gd name="csX10" fmla="*/ 869720 w 2960657"/>
                <a:gd name="csY10" fmla="*/ 1545794 h 2026801"/>
                <a:gd name="csX11" fmla="*/ 887883 w 2960657"/>
                <a:gd name="csY11" fmla="*/ 1554339 h 2026801"/>
                <a:gd name="csX12" fmla="*/ 949453 w 2960657"/>
                <a:gd name="csY12" fmla="*/ 1570907 h 2026801"/>
                <a:gd name="csX13" fmla="*/ 1393200 w 2960657"/>
                <a:gd name="csY13" fmla="*/ 2026801 h 2026801"/>
                <a:gd name="csX14" fmla="*/ 633600 w 2960657"/>
                <a:gd name="csY14" fmla="*/ 2026801 h 2026801"/>
                <a:gd name="csX15" fmla="*/ 633606 w 2960657"/>
                <a:gd name="csY15" fmla="*/ 2026800 h 2026801"/>
                <a:gd name="csX16" fmla="*/ 1393194 w 2960657"/>
                <a:gd name="csY16" fmla="*/ 2026800 h 2026801"/>
                <a:gd name="csX17" fmla="*/ 2422864 w 2960657"/>
                <a:gd name="csY17" fmla="*/ 869720 h 2026801"/>
                <a:gd name="csX18" fmla="*/ 2414318 w 2960657"/>
                <a:gd name="csY18" fmla="*/ 887882 h 2026801"/>
                <a:gd name="csX19" fmla="*/ 2391973 w 2960657"/>
                <a:gd name="csY19" fmla="*/ 1015558 h 2026801"/>
                <a:gd name="csX20" fmla="*/ 2414318 w 2960657"/>
                <a:gd name="csY20" fmla="*/ 1143234 h 2026801"/>
                <a:gd name="csX21" fmla="*/ 2419187 w 2960657"/>
                <a:gd name="csY21" fmla="*/ 1153580 h 2026801"/>
                <a:gd name="csX22" fmla="*/ 2385177 w 2960657"/>
                <a:gd name="csY22" fmla="*/ 1121210 h 2026801"/>
                <a:gd name="csX23" fmla="*/ 2226198 w 2960657"/>
                <a:gd name="csY23" fmla="*/ 1065191 h 2026801"/>
                <a:gd name="csX24" fmla="*/ 2067220 w 2960657"/>
                <a:gd name="csY24" fmla="*/ 1121210 h 2026801"/>
                <a:gd name="csX25" fmla="*/ 2026800 w 2960657"/>
                <a:gd name="csY25" fmla="*/ 1159681 h 2026801"/>
                <a:gd name="csX26" fmla="*/ 2026800 w 2960657"/>
                <a:gd name="csY26" fmla="*/ 1688993 h 2026801"/>
                <a:gd name="csX27" fmla="*/ 1688993 w 2960657"/>
                <a:gd name="csY27" fmla="*/ 2026800 h 2026801"/>
                <a:gd name="csX28" fmla="*/ 1393194 w 2960657"/>
                <a:gd name="csY28" fmla="*/ 2026800 h 2026801"/>
                <a:gd name="csX29" fmla="*/ 1327095 w 2960657"/>
                <a:gd name="csY29" fmla="*/ 2021024 h 2026801"/>
                <a:gd name="csX30" fmla="*/ 1065191 w 2960657"/>
                <a:gd name="csY30" fmla="*/ 1742459 h 2026801"/>
                <a:gd name="csX31" fmla="*/ 1121210 w 2960657"/>
                <a:gd name="csY31" fmla="*/ 1583481 h 2026801"/>
                <a:gd name="csX32" fmla="*/ 1153581 w 2960657"/>
                <a:gd name="csY32" fmla="*/ 1549471 h 2026801"/>
                <a:gd name="csX33" fmla="*/ 1198951 w 2960657"/>
                <a:gd name="csY33" fmla="*/ 1528123 h 2026801"/>
                <a:gd name="csX34" fmla="*/ 1247495 w 2960657"/>
                <a:gd name="csY34" fmla="*/ 1493403 h 2026801"/>
                <a:gd name="csX35" fmla="*/ 1255178 w 2960657"/>
                <a:gd name="csY35" fmla="*/ 1485331 h 2026801"/>
                <a:gd name="csX36" fmla="*/ 1209807 w 2960657"/>
                <a:gd name="csY36" fmla="*/ 1506679 h 2026801"/>
                <a:gd name="csX37" fmla="*/ 1161263 w 2960657"/>
                <a:gd name="csY37" fmla="*/ 1541400 h 2026801"/>
                <a:gd name="csX38" fmla="*/ 1153580 w 2960657"/>
                <a:gd name="csY38" fmla="*/ 1549471 h 2026801"/>
                <a:gd name="csX39" fmla="*/ 1143234 w 2960657"/>
                <a:gd name="csY39" fmla="*/ 1554339 h 2026801"/>
                <a:gd name="csX40" fmla="*/ 1015558 w 2960657"/>
                <a:gd name="csY40" fmla="*/ 1576684 h 2026801"/>
                <a:gd name="csX41" fmla="*/ 1015558 w 2960657"/>
                <a:gd name="csY41" fmla="*/ 1576684 h 2026801"/>
                <a:gd name="csX42" fmla="*/ 1081663 w 2960657"/>
                <a:gd name="csY42" fmla="*/ 1570907 h 2026801"/>
                <a:gd name="csX43" fmla="*/ 1143233 w 2960657"/>
                <a:gd name="csY43" fmla="*/ 1554339 h 2026801"/>
                <a:gd name="csX44" fmla="*/ 1153580 w 2960657"/>
                <a:gd name="csY44" fmla="*/ 1549471 h 2026801"/>
                <a:gd name="csX45" fmla="*/ 1161263 w 2960657"/>
                <a:gd name="csY45" fmla="*/ 1541399 h 2026801"/>
                <a:gd name="csX46" fmla="*/ 1209807 w 2960657"/>
                <a:gd name="csY46" fmla="*/ 1506678 h 2026801"/>
                <a:gd name="csX47" fmla="*/ 1255178 w 2960657"/>
                <a:gd name="csY47" fmla="*/ 1485331 h 2026801"/>
                <a:gd name="csX48" fmla="*/ 1287548 w 2960657"/>
                <a:gd name="csY48" fmla="*/ 1451321 h 2026801"/>
                <a:gd name="csX49" fmla="*/ 1343567 w 2960657"/>
                <a:gd name="csY49" fmla="*/ 1292343 h 2026801"/>
                <a:gd name="csX50" fmla="*/ 1015558 w 2960657"/>
                <a:gd name="csY50" fmla="*/ 1008001 h 2026801"/>
                <a:gd name="csX51" fmla="*/ 687548 w 2960657"/>
                <a:gd name="csY51" fmla="*/ 1292343 h 2026801"/>
                <a:gd name="csX52" fmla="*/ 743567 w 2960657"/>
                <a:gd name="csY52" fmla="*/ 1451321 h 2026801"/>
                <a:gd name="csX53" fmla="*/ 779438 w 2960657"/>
                <a:gd name="csY53" fmla="*/ 1489008 h 2026801"/>
                <a:gd name="csX54" fmla="*/ 816993 w 2960657"/>
                <a:gd name="csY54" fmla="*/ 1506678 h 2026801"/>
                <a:gd name="csX55" fmla="*/ 779438 w 2960657"/>
                <a:gd name="csY55" fmla="*/ 1489008 h 2026801"/>
                <a:gd name="csX56" fmla="*/ 783621 w 2960657"/>
                <a:gd name="csY56" fmla="*/ 1493402 h 2026801"/>
                <a:gd name="csX57" fmla="*/ 832165 w 2960657"/>
                <a:gd name="csY57" fmla="*/ 1528124 h 2026801"/>
                <a:gd name="csX58" fmla="*/ 869720 w 2960657"/>
                <a:gd name="csY58" fmla="*/ 1545794 h 2026801"/>
                <a:gd name="csX59" fmla="*/ 869720 w 2960657"/>
                <a:gd name="csY59" fmla="*/ 1545794 h 2026801"/>
                <a:gd name="csX60" fmla="*/ 869721 w 2960657"/>
                <a:gd name="csY60" fmla="*/ 1545794 h 2026801"/>
                <a:gd name="csX61" fmla="*/ 905591 w 2960657"/>
                <a:gd name="csY61" fmla="*/ 1583481 h 2026801"/>
                <a:gd name="csX62" fmla="*/ 961610 w 2960657"/>
                <a:gd name="csY62" fmla="*/ 1742459 h 2026801"/>
                <a:gd name="csX63" fmla="*/ 699706 w 2960657"/>
                <a:gd name="csY63" fmla="*/ 2021024 h 2026801"/>
                <a:gd name="csX64" fmla="*/ 633606 w 2960657"/>
                <a:gd name="csY64" fmla="*/ 2026800 h 2026801"/>
                <a:gd name="csX65" fmla="*/ 337807 w 2960657"/>
                <a:gd name="csY65" fmla="*/ 2026800 h 2026801"/>
                <a:gd name="csX66" fmla="*/ 0 w 2960657"/>
                <a:gd name="csY66" fmla="*/ 1688993 h 2026801"/>
                <a:gd name="csX67" fmla="*/ 0 w 2960657"/>
                <a:gd name="csY67" fmla="*/ 337807 h 2026801"/>
                <a:gd name="csX68" fmla="*/ 337807 w 2960657"/>
                <a:gd name="csY68" fmla="*/ 0 h 2026801"/>
                <a:gd name="csX69" fmla="*/ 1688993 w 2960657"/>
                <a:gd name="csY69" fmla="*/ 0 h 2026801"/>
                <a:gd name="csX70" fmla="*/ 2026800 w 2960657"/>
                <a:gd name="csY70" fmla="*/ 337807 h 2026801"/>
                <a:gd name="csX71" fmla="*/ 2026800 w 2960657"/>
                <a:gd name="csY71" fmla="*/ 867119 h 2026801"/>
                <a:gd name="csX72" fmla="*/ 2067220 w 2960657"/>
                <a:gd name="csY72" fmla="*/ 905591 h 2026801"/>
                <a:gd name="csX73" fmla="*/ 2226198 w 2960657"/>
                <a:gd name="csY73" fmla="*/ 961609 h 2026801"/>
                <a:gd name="csX74" fmla="*/ 2385177 w 2960657"/>
                <a:gd name="csY74" fmla="*/ 905591 h 2026801"/>
                <a:gd name="csX75" fmla="*/ 2446842 w 2960657"/>
                <a:gd name="csY75" fmla="*/ 838157 h 2026801"/>
                <a:gd name="csX76" fmla="*/ 2427258 w 2960657"/>
                <a:gd name="csY76" fmla="*/ 865538 h 2026801"/>
                <a:gd name="csX77" fmla="*/ 2427259 w 2960657"/>
                <a:gd name="csY77" fmla="*/ 865537 h 2026801"/>
                <a:gd name="csX78" fmla="*/ 2483327 w 2960657"/>
                <a:gd name="csY78" fmla="*/ 1255178 h 2026801"/>
                <a:gd name="csX79" fmla="*/ 2475255 w 2960657"/>
                <a:gd name="csY79" fmla="*/ 1247495 h 2026801"/>
                <a:gd name="csX80" fmla="*/ 2440535 w 2960657"/>
                <a:gd name="csY80" fmla="*/ 1198951 h 2026801"/>
                <a:gd name="csX81" fmla="*/ 2419187 w 2960657"/>
                <a:gd name="csY81" fmla="*/ 1153580 h 2026801"/>
                <a:gd name="csX82" fmla="*/ 2427258 w 2960657"/>
                <a:gd name="csY82" fmla="*/ 1161263 h 2026801"/>
                <a:gd name="csX83" fmla="*/ 2461979 w 2960657"/>
                <a:gd name="csY83" fmla="*/ 1209807 h 2026801"/>
                <a:gd name="csX84" fmla="*/ 2960657 w 2960657"/>
                <a:gd name="csY84" fmla="*/ 1015558 h 2026801"/>
                <a:gd name="csX85" fmla="*/ 2676315 w 2960657"/>
                <a:gd name="csY85" fmla="*/ 1343567 h 2026801"/>
                <a:gd name="csX86" fmla="*/ 2517337 w 2960657"/>
                <a:gd name="csY86" fmla="*/ 1287548 h 2026801"/>
                <a:gd name="csX87" fmla="*/ 2483327 w 2960657"/>
                <a:gd name="csY87" fmla="*/ 1255178 h 2026801"/>
                <a:gd name="csX88" fmla="*/ 2461980 w 2960657"/>
                <a:gd name="csY88" fmla="*/ 1209807 h 2026801"/>
                <a:gd name="csX89" fmla="*/ 2427259 w 2960657"/>
                <a:gd name="csY89" fmla="*/ 1161263 h 2026801"/>
                <a:gd name="csX90" fmla="*/ 2419187 w 2960657"/>
                <a:gd name="csY90" fmla="*/ 1153580 h 2026801"/>
                <a:gd name="csX91" fmla="*/ 2414319 w 2960657"/>
                <a:gd name="csY91" fmla="*/ 1143233 h 2026801"/>
                <a:gd name="csX92" fmla="*/ 2391974 w 2960657"/>
                <a:gd name="csY92" fmla="*/ 1015558 h 2026801"/>
                <a:gd name="csX93" fmla="*/ 2414319 w 2960657"/>
                <a:gd name="csY93" fmla="*/ 887882 h 2026801"/>
                <a:gd name="csX94" fmla="*/ 2422864 w 2960657"/>
                <a:gd name="csY94" fmla="*/ 869720 h 2026801"/>
                <a:gd name="csX95" fmla="*/ 2440534 w 2960657"/>
                <a:gd name="csY95" fmla="*/ 832165 h 2026801"/>
                <a:gd name="csX96" fmla="*/ 2475256 w 2960657"/>
                <a:gd name="csY96" fmla="*/ 783621 h 2026801"/>
                <a:gd name="csX97" fmla="*/ 2479650 w 2960657"/>
                <a:gd name="csY97" fmla="*/ 779438 h 2026801"/>
                <a:gd name="csX98" fmla="*/ 2517337 w 2960657"/>
                <a:gd name="csY98" fmla="*/ 743567 h 2026801"/>
                <a:gd name="csX99" fmla="*/ 2676315 w 2960657"/>
                <a:gd name="csY99" fmla="*/ 687548 h 2026801"/>
                <a:gd name="csX100" fmla="*/ 2960657 w 2960657"/>
                <a:gd name="csY100" fmla="*/ 1015558 h 20268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2960657" h="2026801">
                  <a:moveTo>
                    <a:pt x="837213" y="1521141"/>
                  </a:moveTo>
                  <a:lnTo>
                    <a:pt x="816993" y="1506678"/>
                  </a:lnTo>
                  <a:lnTo>
                    <a:pt x="816993" y="1506679"/>
                  </a:lnTo>
                  <a:close/>
                  <a:moveTo>
                    <a:pt x="865538" y="1541400"/>
                  </a:moveTo>
                  <a:lnTo>
                    <a:pt x="837213" y="1521141"/>
                  </a:lnTo>
                  <a:lnTo>
                    <a:pt x="865537" y="1541399"/>
                  </a:lnTo>
                  <a:close/>
                  <a:moveTo>
                    <a:pt x="1015558" y="1576684"/>
                  </a:moveTo>
                  <a:lnTo>
                    <a:pt x="1015558" y="1576684"/>
                  </a:lnTo>
                  <a:cubicBezTo>
                    <a:pt x="970269" y="1576684"/>
                    <a:pt x="927124" y="1568728"/>
                    <a:pt x="887882" y="1554339"/>
                  </a:cubicBezTo>
                  <a:lnTo>
                    <a:pt x="869721" y="1545794"/>
                  </a:lnTo>
                  <a:lnTo>
                    <a:pt x="869720" y="1545794"/>
                  </a:lnTo>
                  <a:lnTo>
                    <a:pt x="887883" y="1554339"/>
                  </a:lnTo>
                  <a:cubicBezTo>
                    <a:pt x="907504" y="1561533"/>
                    <a:pt x="928100" y="1567120"/>
                    <a:pt x="949453" y="1570907"/>
                  </a:cubicBezTo>
                  <a:close/>
                  <a:moveTo>
                    <a:pt x="1393200" y="2026801"/>
                  </a:moveTo>
                  <a:lnTo>
                    <a:pt x="633600" y="2026801"/>
                  </a:lnTo>
                  <a:lnTo>
                    <a:pt x="633606" y="2026800"/>
                  </a:lnTo>
                  <a:lnTo>
                    <a:pt x="1393194" y="2026800"/>
                  </a:lnTo>
                  <a:close/>
                  <a:moveTo>
                    <a:pt x="2422864" y="869720"/>
                  </a:moveTo>
                  <a:lnTo>
                    <a:pt x="2414318" y="887882"/>
                  </a:lnTo>
                  <a:cubicBezTo>
                    <a:pt x="2399930" y="927124"/>
                    <a:pt x="2391973" y="970269"/>
                    <a:pt x="2391973" y="1015558"/>
                  </a:cubicBezTo>
                  <a:cubicBezTo>
                    <a:pt x="2391973" y="1060846"/>
                    <a:pt x="2399930" y="1103992"/>
                    <a:pt x="2414318" y="1143234"/>
                  </a:cubicBezTo>
                  <a:lnTo>
                    <a:pt x="2419187" y="1153580"/>
                  </a:lnTo>
                  <a:lnTo>
                    <a:pt x="2385177" y="1121210"/>
                  </a:lnTo>
                  <a:cubicBezTo>
                    <a:pt x="2339795" y="1085842"/>
                    <a:pt x="2285087" y="1065191"/>
                    <a:pt x="2226198" y="1065191"/>
                  </a:cubicBezTo>
                  <a:cubicBezTo>
                    <a:pt x="2167309" y="1065191"/>
                    <a:pt x="2112602" y="1085842"/>
                    <a:pt x="2067220" y="1121210"/>
                  </a:cubicBezTo>
                  <a:lnTo>
                    <a:pt x="2026800" y="1159681"/>
                  </a:lnTo>
                  <a:lnTo>
                    <a:pt x="2026800" y="1688993"/>
                  </a:lnTo>
                  <a:cubicBezTo>
                    <a:pt x="2026800" y="1875559"/>
                    <a:pt x="1875559" y="2026800"/>
                    <a:pt x="1688993" y="2026800"/>
                  </a:cubicBezTo>
                  <a:lnTo>
                    <a:pt x="1393194" y="2026800"/>
                  </a:lnTo>
                  <a:lnTo>
                    <a:pt x="1327095" y="2021024"/>
                  </a:lnTo>
                  <a:cubicBezTo>
                    <a:pt x="1177627" y="1994510"/>
                    <a:pt x="1065191" y="1879867"/>
                    <a:pt x="1065191" y="1742459"/>
                  </a:cubicBezTo>
                  <a:cubicBezTo>
                    <a:pt x="1065191" y="1683570"/>
                    <a:pt x="1085843" y="1628863"/>
                    <a:pt x="1121210" y="1583481"/>
                  </a:cubicBezTo>
                  <a:lnTo>
                    <a:pt x="1153581" y="1549471"/>
                  </a:lnTo>
                  <a:lnTo>
                    <a:pt x="1198951" y="1528123"/>
                  </a:lnTo>
                  <a:cubicBezTo>
                    <a:pt x="1216402" y="1517904"/>
                    <a:pt x="1232656" y="1506267"/>
                    <a:pt x="1247495" y="1493403"/>
                  </a:cubicBezTo>
                  <a:lnTo>
                    <a:pt x="1255178" y="1485331"/>
                  </a:lnTo>
                  <a:lnTo>
                    <a:pt x="1209807" y="1506679"/>
                  </a:lnTo>
                  <a:cubicBezTo>
                    <a:pt x="1192357" y="1516899"/>
                    <a:pt x="1176102" y="1528536"/>
                    <a:pt x="1161263" y="1541400"/>
                  </a:cubicBezTo>
                  <a:lnTo>
                    <a:pt x="1153580" y="1549471"/>
                  </a:lnTo>
                  <a:lnTo>
                    <a:pt x="1143234" y="1554339"/>
                  </a:lnTo>
                  <a:cubicBezTo>
                    <a:pt x="1103992" y="1568728"/>
                    <a:pt x="1060847" y="1576684"/>
                    <a:pt x="1015558" y="1576684"/>
                  </a:cubicBezTo>
                  <a:lnTo>
                    <a:pt x="1015558" y="1576684"/>
                  </a:lnTo>
                  <a:lnTo>
                    <a:pt x="1081663" y="1570907"/>
                  </a:lnTo>
                  <a:cubicBezTo>
                    <a:pt x="1103016" y="1567120"/>
                    <a:pt x="1123612" y="1561533"/>
                    <a:pt x="1143233" y="1554339"/>
                  </a:cubicBezTo>
                  <a:lnTo>
                    <a:pt x="1153580" y="1549471"/>
                  </a:lnTo>
                  <a:lnTo>
                    <a:pt x="1161263" y="1541399"/>
                  </a:lnTo>
                  <a:cubicBezTo>
                    <a:pt x="1176102" y="1528535"/>
                    <a:pt x="1192356" y="1516898"/>
                    <a:pt x="1209807" y="1506678"/>
                  </a:cubicBezTo>
                  <a:lnTo>
                    <a:pt x="1255178" y="1485331"/>
                  </a:lnTo>
                  <a:lnTo>
                    <a:pt x="1287548" y="1451321"/>
                  </a:lnTo>
                  <a:cubicBezTo>
                    <a:pt x="1322916" y="1405940"/>
                    <a:pt x="1343567" y="1351232"/>
                    <a:pt x="1343567" y="1292343"/>
                  </a:cubicBezTo>
                  <a:cubicBezTo>
                    <a:pt x="1343567" y="1135305"/>
                    <a:pt x="1196712" y="1008001"/>
                    <a:pt x="1015558" y="1008001"/>
                  </a:cubicBezTo>
                  <a:cubicBezTo>
                    <a:pt x="834403" y="1008001"/>
                    <a:pt x="687548" y="1135305"/>
                    <a:pt x="687548" y="1292343"/>
                  </a:cubicBezTo>
                  <a:cubicBezTo>
                    <a:pt x="687548" y="1351232"/>
                    <a:pt x="708200" y="1405940"/>
                    <a:pt x="743567" y="1451321"/>
                  </a:cubicBezTo>
                  <a:lnTo>
                    <a:pt x="779438" y="1489008"/>
                  </a:lnTo>
                  <a:lnTo>
                    <a:pt x="816993" y="1506678"/>
                  </a:lnTo>
                  <a:lnTo>
                    <a:pt x="779438" y="1489008"/>
                  </a:lnTo>
                  <a:lnTo>
                    <a:pt x="783621" y="1493402"/>
                  </a:lnTo>
                  <a:cubicBezTo>
                    <a:pt x="798460" y="1506266"/>
                    <a:pt x="814714" y="1517904"/>
                    <a:pt x="832165" y="1528124"/>
                  </a:cubicBezTo>
                  <a:lnTo>
                    <a:pt x="869720" y="1545794"/>
                  </a:lnTo>
                  <a:lnTo>
                    <a:pt x="869720" y="1545794"/>
                  </a:lnTo>
                  <a:lnTo>
                    <a:pt x="869721" y="1545794"/>
                  </a:lnTo>
                  <a:lnTo>
                    <a:pt x="905591" y="1583481"/>
                  </a:lnTo>
                  <a:cubicBezTo>
                    <a:pt x="940958" y="1628863"/>
                    <a:pt x="961610" y="1683570"/>
                    <a:pt x="961610" y="1742459"/>
                  </a:cubicBezTo>
                  <a:cubicBezTo>
                    <a:pt x="961610" y="1879867"/>
                    <a:pt x="849174" y="1994510"/>
                    <a:pt x="699706" y="2021024"/>
                  </a:cubicBezTo>
                  <a:lnTo>
                    <a:pt x="633606" y="2026800"/>
                  </a:lnTo>
                  <a:lnTo>
                    <a:pt x="337807" y="2026800"/>
                  </a:lnTo>
                  <a:cubicBezTo>
                    <a:pt x="151241" y="2026800"/>
                    <a:pt x="0" y="1875559"/>
                    <a:pt x="0" y="1688993"/>
                  </a:cubicBezTo>
                  <a:lnTo>
                    <a:pt x="0" y="337807"/>
                  </a:lnTo>
                  <a:cubicBezTo>
                    <a:pt x="0" y="151241"/>
                    <a:pt x="151241" y="0"/>
                    <a:pt x="337807" y="0"/>
                  </a:cubicBezTo>
                  <a:lnTo>
                    <a:pt x="1688993" y="0"/>
                  </a:lnTo>
                  <a:cubicBezTo>
                    <a:pt x="1875559" y="0"/>
                    <a:pt x="2026800" y="151241"/>
                    <a:pt x="2026800" y="337807"/>
                  </a:cubicBezTo>
                  <a:lnTo>
                    <a:pt x="2026800" y="867119"/>
                  </a:lnTo>
                  <a:lnTo>
                    <a:pt x="2067220" y="905591"/>
                  </a:lnTo>
                  <a:cubicBezTo>
                    <a:pt x="2112602" y="940958"/>
                    <a:pt x="2167309" y="961609"/>
                    <a:pt x="2226198" y="961609"/>
                  </a:cubicBezTo>
                  <a:cubicBezTo>
                    <a:pt x="2285087" y="961609"/>
                    <a:pt x="2339795" y="940958"/>
                    <a:pt x="2385177" y="905591"/>
                  </a:cubicBezTo>
                  <a:close/>
                  <a:moveTo>
                    <a:pt x="2446842" y="838157"/>
                  </a:moveTo>
                  <a:lnTo>
                    <a:pt x="2427258" y="865538"/>
                  </a:lnTo>
                  <a:lnTo>
                    <a:pt x="2427259" y="865537"/>
                  </a:lnTo>
                  <a:close/>
                  <a:moveTo>
                    <a:pt x="2483327" y="1255178"/>
                  </a:moveTo>
                  <a:lnTo>
                    <a:pt x="2475255" y="1247495"/>
                  </a:lnTo>
                  <a:cubicBezTo>
                    <a:pt x="2462391" y="1232656"/>
                    <a:pt x="2450754" y="1216402"/>
                    <a:pt x="2440535" y="1198951"/>
                  </a:cubicBezTo>
                  <a:lnTo>
                    <a:pt x="2419187" y="1153580"/>
                  </a:lnTo>
                  <a:lnTo>
                    <a:pt x="2427258" y="1161263"/>
                  </a:lnTo>
                  <a:cubicBezTo>
                    <a:pt x="2440122" y="1176102"/>
                    <a:pt x="2451759" y="1192357"/>
                    <a:pt x="2461979" y="1209807"/>
                  </a:cubicBezTo>
                  <a:close/>
                  <a:moveTo>
                    <a:pt x="2960657" y="1015558"/>
                  </a:moveTo>
                  <a:cubicBezTo>
                    <a:pt x="2960657" y="1196712"/>
                    <a:pt x="2833353" y="1343567"/>
                    <a:pt x="2676315" y="1343567"/>
                  </a:cubicBezTo>
                  <a:cubicBezTo>
                    <a:pt x="2617426" y="1343567"/>
                    <a:pt x="2562718" y="1322916"/>
                    <a:pt x="2517337" y="1287548"/>
                  </a:cubicBezTo>
                  <a:lnTo>
                    <a:pt x="2483327" y="1255178"/>
                  </a:lnTo>
                  <a:lnTo>
                    <a:pt x="2461980" y="1209807"/>
                  </a:lnTo>
                  <a:cubicBezTo>
                    <a:pt x="2451760" y="1192356"/>
                    <a:pt x="2440123" y="1176102"/>
                    <a:pt x="2427259" y="1161263"/>
                  </a:cubicBezTo>
                  <a:lnTo>
                    <a:pt x="2419187" y="1153580"/>
                  </a:lnTo>
                  <a:lnTo>
                    <a:pt x="2414319" y="1143233"/>
                  </a:lnTo>
                  <a:cubicBezTo>
                    <a:pt x="2399930" y="1103991"/>
                    <a:pt x="2391974" y="1060846"/>
                    <a:pt x="2391974" y="1015558"/>
                  </a:cubicBezTo>
                  <a:cubicBezTo>
                    <a:pt x="2391974" y="970269"/>
                    <a:pt x="2399930" y="927124"/>
                    <a:pt x="2414319" y="887882"/>
                  </a:cubicBezTo>
                  <a:lnTo>
                    <a:pt x="2422864" y="869720"/>
                  </a:lnTo>
                  <a:lnTo>
                    <a:pt x="2440534" y="832165"/>
                  </a:lnTo>
                  <a:cubicBezTo>
                    <a:pt x="2450754" y="814714"/>
                    <a:pt x="2462392" y="798460"/>
                    <a:pt x="2475256" y="783621"/>
                  </a:cubicBezTo>
                  <a:lnTo>
                    <a:pt x="2479650" y="779438"/>
                  </a:lnTo>
                  <a:lnTo>
                    <a:pt x="2517337" y="743567"/>
                  </a:lnTo>
                  <a:cubicBezTo>
                    <a:pt x="2562718" y="708200"/>
                    <a:pt x="2617426" y="687548"/>
                    <a:pt x="2676315" y="687548"/>
                  </a:cubicBezTo>
                  <a:cubicBezTo>
                    <a:pt x="2833353" y="687548"/>
                    <a:pt x="2960657" y="834403"/>
                    <a:pt x="2960657" y="1015558"/>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34" name="Freeform: Shape 33">
              <a:extLst>
                <a:ext uri="{FF2B5EF4-FFF2-40B4-BE49-F238E27FC236}">
                  <a16:creationId xmlns:a16="http://schemas.microsoft.com/office/drawing/2014/main" id="{86A070D9-8445-5129-2848-74FBE2067EB5}"/>
                </a:ext>
              </a:extLst>
            </p:cNvPr>
            <p:cNvSpPr/>
            <p:nvPr/>
          </p:nvSpPr>
          <p:spPr>
            <a:xfrm rot="5400000">
              <a:off x="5010537" y="1368481"/>
              <a:ext cx="2960657" cy="2026801"/>
            </a:xfrm>
            <a:custGeom>
              <a:avLst/>
              <a:gdLst>
                <a:gd name="csX0" fmla="*/ 837213 w 2960657"/>
                <a:gd name="csY0" fmla="*/ 1521141 h 2026801"/>
                <a:gd name="csX1" fmla="*/ 816993 w 2960657"/>
                <a:gd name="csY1" fmla="*/ 1506678 h 2026801"/>
                <a:gd name="csX2" fmla="*/ 816993 w 2960657"/>
                <a:gd name="csY2" fmla="*/ 1506679 h 2026801"/>
                <a:gd name="csX3" fmla="*/ 865538 w 2960657"/>
                <a:gd name="csY3" fmla="*/ 1541400 h 2026801"/>
                <a:gd name="csX4" fmla="*/ 837213 w 2960657"/>
                <a:gd name="csY4" fmla="*/ 1521141 h 2026801"/>
                <a:gd name="csX5" fmla="*/ 865537 w 2960657"/>
                <a:gd name="csY5" fmla="*/ 1541399 h 2026801"/>
                <a:gd name="csX6" fmla="*/ 1015558 w 2960657"/>
                <a:gd name="csY6" fmla="*/ 1576684 h 2026801"/>
                <a:gd name="csX7" fmla="*/ 1015558 w 2960657"/>
                <a:gd name="csY7" fmla="*/ 1576684 h 2026801"/>
                <a:gd name="csX8" fmla="*/ 887882 w 2960657"/>
                <a:gd name="csY8" fmla="*/ 1554339 h 2026801"/>
                <a:gd name="csX9" fmla="*/ 869721 w 2960657"/>
                <a:gd name="csY9" fmla="*/ 1545794 h 2026801"/>
                <a:gd name="csX10" fmla="*/ 869720 w 2960657"/>
                <a:gd name="csY10" fmla="*/ 1545794 h 2026801"/>
                <a:gd name="csX11" fmla="*/ 887883 w 2960657"/>
                <a:gd name="csY11" fmla="*/ 1554339 h 2026801"/>
                <a:gd name="csX12" fmla="*/ 949453 w 2960657"/>
                <a:gd name="csY12" fmla="*/ 1570907 h 2026801"/>
                <a:gd name="csX13" fmla="*/ 1393200 w 2960657"/>
                <a:gd name="csY13" fmla="*/ 2026801 h 2026801"/>
                <a:gd name="csX14" fmla="*/ 633600 w 2960657"/>
                <a:gd name="csY14" fmla="*/ 2026801 h 2026801"/>
                <a:gd name="csX15" fmla="*/ 633606 w 2960657"/>
                <a:gd name="csY15" fmla="*/ 2026800 h 2026801"/>
                <a:gd name="csX16" fmla="*/ 1393194 w 2960657"/>
                <a:gd name="csY16" fmla="*/ 2026800 h 2026801"/>
                <a:gd name="csX17" fmla="*/ 2422864 w 2960657"/>
                <a:gd name="csY17" fmla="*/ 869720 h 2026801"/>
                <a:gd name="csX18" fmla="*/ 2414318 w 2960657"/>
                <a:gd name="csY18" fmla="*/ 887882 h 2026801"/>
                <a:gd name="csX19" fmla="*/ 2391973 w 2960657"/>
                <a:gd name="csY19" fmla="*/ 1015558 h 2026801"/>
                <a:gd name="csX20" fmla="*/ 2414318 w 2960657"/>
                <a:gd name="csY20" fmla="*/ 1143234 h 2026801"/>
                <a:gd name="csX21" fmla="*/ 2419187 w 2960657"/>
                <a:gd name="csY21" fmla="*/ 1153580 h 2026801"/>
                <a:gd name="csX22" fmla="*/ 2385177 w 2960657"/>
                <a:gd name="csY22" fmla="*/ 1121210 h 2026801"/>
                <a:gd name="csX23" fmla="*/ 2226198 w 2960657"/>
                <a:gd name="csY23" fmla="*/ 1065191 h 2026801"/>
                <a:gd name="csX24" fmla="*/ 2067220 w 2960657"/>
                <a:gd name="csY24" fmla="*/ 1121210 h 2026801"/>
                <a:gd name="csX25" fmla="*/ 2026800 w 2960657"/>
                <a:gd name="csY25" fmla="*/ 1159681 h 2026801"/>
                <a:gd name="csX26" fmla="*/ 2026800 w 2960657"/>
                <a:gd name="csY26" fmla="*/ 1688993 h 2026801"/>
                <a:gd name="csX27" fmla="*/ 1688993 w 2960657"/>
                <a:gd name="csY27" fmla="*/ 2026800 h 2026801"/>
                <a:gd name="csX28" fmla="*/ 1393194 w 2960657"/>
                <a:gd name="csY28" fmla="*/ 2026800 h 2026801"/>
                <a:gd name="csX29" fmla="*/ 1327095 w 2960657"/>
                <a:gd name="csY29" fmla="*/ 2021024 h 2026801"/>
                <a:gd name="csX30" fmla="*/ 1065191 w 2960657"/>
                <a:gd name="csY30" fmla="*/ 1742459 h 2026801"/>
                <a:gd name="csX31" fmla="*/ 1121210 w 2960657"/>
                <a:gd name="csY31" fmla="*/ 1583481 h 2026801"/>
                <a:gd name="csX32" fmla="*/ 1153581 w 2960657"/>
                <a:gd name="csY32" fmla="*/ 1549471 h 2026801"/>
                <a:gd name="csX33" fmla="*/ 1198951 w 2960657"/>
                <a:gd name="csY33" fmla="*/ 1528123 h 2026801"/>
                <a:gd name="csX34" fmla="*/ 1247495 w 2960657"/>
                <a:gd name="csY34" fmla="*/ 1493403 h 2026801"/>
                <a:gd name="csX35" fmla="*/ 1255178 w 2960657"/>
                <a:gd name="csY35" fmla="*/ 1485331 h 2026801"/>
                <a:gd name="csX36" fmla="*/ 1209807 w 2960657"/>
                <a:gd name="csY36" fmla="*/ 1506679 h 2026801"/>
                <a:gd name="csX37" fmla="*/ 1161263 w 2960657"/>
                <a:gd name="csY37" fmla="*/ 1541400 h 2026801"/>
                <a:gd name="csX38" fmla="*/ 1153580 w 2960657"/>
                <a:gd name="csY38" fmla="*/ 1549471 h 2026801"/>
                <a:gd name="csX39" fmla="*/ 1143234 w 2960657"/>
                <a:gd name="csY39" fmla="*/ 1554339 h 2026801"/>
                <a:gd name="csX40" fmla="*/ 1015558 w 2960657"/>
                <a:gd name="csY40" fmla="*/ 1576684 h 2026801"/>
                <a:gd name="csX41" fmla="*/ 1015558 w 2960657"/>
                <a:gd name="csY41" fmla="*/ 1576684 h 2026801"/>
                <a:gd name="csX42" fmla="*/ 1081663 w 2960657"/>
                <a:gd name="csY42" fmla="*/ 1570907 h 2026801"/>
                <a:gd name="csX43" fmla="*/ 1143233 w 2960657"/>
                <a:gd name="csY43" fmla="*/ 1554339 h 2026801"/>
                <a:gd name="csX44" fmla="*/ 1153580 w 2960657"/>
                <a:gd name="csY44" fmla="*/ 1549471 h 2026801"/>
                <a:gd name="csX45" fmla="*/ 1161263 w 2960657"/>
                <a:gd name="csY45" fmla="*/ 1541399 h 2026801"/>
                <a:gd name="csX46" fmla="*/ 1209807 w 2960657"/>
                <a:gd name="csY46" fmla="*/ 1506678 h 2026801"/>
                <a:gd name="csX47" fmla="*/ 1255178 w 2960657"/>
                <a:gd name="csY47" fmla="*/ 1485331 h 2026801"/>
                <a:gd name="csX48" fmla="*/ 1287548 w 2960657"/>
                <a:gd name="csY48" fmla="*/ 1451321 h 2026801"/>
                <a:gd name="csX49" fmla="*/ 1343567 w 2960657"/>
                <a:gd name="csY49" fmla="*/ 1292343 h 2026801"/>
                <a:gd name="csX50" fmla="*/ 1015558 w 2960657"/>
                <a:gd name="csY50" fmla="*/ 1008001 h 2026801"/>
                <a:gd name="csX51" fmla="*/ 687548 w 2960657"/>
                <a:gd name="csY51" fmla="*/ 1292343 h 2026801"/>
                <a:gd name="csX52" fmla="*/ 743567 w 2960657"/>
                <a:gd name="csY52" fmla="*/ 1451321 h 2026801"/>
                <a:gd name="csX53" fmla="*/ 779438 w 2960657"/>
                <a:gd name="csY53" fmla="*/ 1489008 h 2026801"/>
                <a:gd name="csX54" fmla="*/ 816993 w 2960657"/>
                <a:gd name="csY54" fmla="*/ 1506678 h 2026801"/>
                <a:gd name="csX55" fmla="*/ 779438 w 2960657"/>
                <a:gd name="csY55" fmla="*/ 1489008 h 2026801"/>
                <a:gd name="csX56" fmla="*/ 783621 w 2960657"/>
                <a:gd name="csY56" fmla="*/ 1493402 h 2026801"/>
                <a:gd name="csX57" fmla="*/ 832165 w 2960657"/>
                <a:gd name="csY57" fmla="*/ 1528124 h 2026801"/>
                <a:gd name="csX58" fmla="*/ 869720 w 2960657"/>
                <a:gd name="csY58" fmla="*/ 1545794 h 2026801"/>
                <a:gd name="csX59" fmla="*/ 869720 w 2960657"/>
                <a:gd name="csY59" fmla="*/ 1545794 h 2026801"/>
                <a:gd name="csX60" fmla="*/ 869721 w 2960657"/>
                <a:gd name="csY60" fmla="*/ 1545794 h 2026801"/>
                <a:gd name="csX61" fmla="*/ 905591 w 2960657"/>
                <a:gd name="csY61" fmla="*/ 1583481 h 2026801"/>
                <a:gd name="csX62" fmla="*/ 961610 w 2960657"/>
                <a:gd name="csY62" fmla="*/ 1742459 h 2026801"/>
                <a:gd name="csX63" fmla="*/ 699706 w 2960657"/>
                <a:gd name="csY63" fmla="*/ 2021024 h 2026801"/>
                <a:gd name="csX64" fmla="*/ 633606 w 2960657"/>
                <a:gd name="csY64" fmla="*/ 2026800 h 2026801"/>
                <a:gd name="csX65" fmla="*/ 337807 w 2960657"/>
                <a:gd name="csY65" fmla="*/ 2026800 h 2026801"/>
                <a:gd name="csX66" fmla="*/ 0 w 2960657"/>
                <a:gd name="csY66" fmla="*/ 1688993 h 2026801"/>
                <a:gd name="csX67" fmla="*/ 0 w 2960657"/>
                <a:gd name="csY67" fmla="*/ 337807 h 2026801"/>
                <a:gd name="csX68" fmla="*/ 337807 w 2960657"/>
                <a:gd name="csY68" fmla="*/ 0 h 2026801"/>
                <a:gd name="csX69" fmla="*/ 1688993 w 2960657"/>
                <a:gd name="csY69" fmla="*/ 0 h 2026801"/>
                <a:gd name="csX70" fmla="*/ 2026800 w 2960657"/>
                <a:gd name="csY70" fmla="*/ 337807 h 2026801"/>
                <a:gd name="csX71" fmla="*/ 2026800 w 2960657"/>
                <a:gd name="csY71" fmla="*/ 867119 h 2026801"/>
                <a:gd name="csX72" fmla="*/ 2067220 w 2960657"/>
                <a:gd name="csY72" fmla="*/ 905591 h 2026801"/>
                <a:gd name="csX73" fmla="*/ 2226198 w 2960657"/>
                <a:gd name="csY73" fmla="*/ 961609 h 2026801"/>
                <a:gd name="csX74" fmla="*/ 2385177 w 2960657"/>
                <a:gd name="csY74" fmla="*/ 905591 h 2026801"/>
                <a:gd name="csX75" fmla="*/ 2446842 w 2960657"/>
                <a:gd name="csY75" fmla="*/ 838157 h 2026801"/>
                <a:gd name="csX76" fmla="*/ 2427258 w 2960657"/>
                <a:gd name="csY76" fmla="*/ 865538 h 2026801"/>
                <a:gd name="csX77" fmla="*/ 2427259 w 2960657"/>
                <a:gd name="csY77" fmla="*/ 865537 h 2026801"/>
                <a:gd name="csX78" fmla="*/ 2483327 w 2960657"/>
                <a:gd name="csY78" fmla="*/ 1255178 h 2026801"/>
                <a:gd name="csX79" fmla="*/ 2475255 w 2960657"/>
                <a:gd name="csY79" fmla="*/ 1247495 h 2026801"/>
                <a:gd name="csX80" fmla="*/ 2440535 w 2960657"/>
                <a:gd name="csY80" fmla="*/ 1198951 h 2026801"/>
                <a:gd name="csX81" fmla="*/ 2419187 w 2960657"/>
                <a:gd name="csY81" fmla="*/ 1153580 h 2026801"/>
                <a:gd name="csX82" fmla="*/ 2427258 w 2960657"/>
                <a:gd name="csY82" fmla="*/ 1161263 h 2026801"/>
                <a:gd name="csX83" fmla="*/ 2461979 w 2960657"/>
                <a:gd name="csY83" fmla="*/ 1209807 h 2026801"/>
                <a:gd name="csX84" fmla="*/ 2960657 w 2960657"/>
                <a:gd name="csY84" fmla="*/ 1015558 h 2026801"/>
                <a:gd name="csX85" fmla="*/ 2676315 w 2960657"/>
                <a:gd name="csY85" fmla="*/ 1343567 h 2026801"/>
                <a:gd name="csX86" fmla="*/ 2517337 w 2960657"/>
                <a:gd name="csY86" fmla="*/ 1287548 h 2026801"/>
                <a:gd name="csX87" fmla="*/ 2483327 w 2960657"/>
                <a:gd name="csY87" fmla="*/ 1255178 h 2026801"/>
                <a:gd name="csX88" fmla="*/ 2461980 w 2960657"/>
                <a:gd name="csY88" fmla="*/ 1209807 h 2026801"/>
                <a:gd name="csX89" fmla="*/ 2427259 w 2960657"/>
                <a:gd name="csY89" fmla="*/ 1161263 h 2026801"/>
                <a:gd name="csX90" fmla="*/ 2419187 w 2960657"/>
                <a:gd name="csY90" fmla="*/ 1153580 h 2026801"/>
                <a:gd name="csX91" fmla="*/ 2414319 w 2960657"/>
                <a:gd name="csY91" fmla="*/ 1143233 h 2026801"/>
                <a:gd name="csX92" fmla="*/ 2391974 w 2960657"/>
                <a:gd name="csY92" fmla="*/ 1015558 h 2026801"/>
                <a:gd name="csX93" fmla="*/ 2414319 w 2960657"/>
                <a:gd name="csY93" fmla="*/ 887882 h 2026801"/>
                <a:gd name="csX94" fmla="*/ 2422864 w 2960657"/>
                <a:gd name="csY94" fmla="*/ 869720 h 2026801"/>
                <a:gd name="csX95" fmla="*/ 2440534 w 2960657"/>
                <a:gd name="csY95" fmla="*/ 832165 h 2026801"/>
                <a:gd name="csX96" fmla="*/ 2475256 w 2960657"/>
                <a:gd name="csY96" fmla="*/ 783621 h 2026801"/>
                <a:gd name="csX97" fmla="*/ 2479650 w 2960657"/>
                <a:gd name="csY97" fmla="*/ 779438 h 2026801"/>
                <a:gd name="csX98" fmla="*/ 2517337 w 2960657"/>
                <a:gd name="csY98" fmla="*/ 743567 h 2026801"/>
                <a:gd name="csX99" fmla="*/ 2676315 w 2960657"/>
                <a:gd name="csY99" fmla="*/ 687548 h 2026801"/>
                <a:gd name="csX100" fmla="*/ 2960657 w 2960657"/>
                <a:gd name="csY100" fmla="*/ 1015558 h 20268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2960657" h="2026801">
                  <a:moveTo>
                    <a:pt x="837213" y="1521141"/>
                  </a:moveTo>
                  <a:lnTo>
                    <a:pt x="816993" y="1506678"/>
                  </a:lnTo>
                  <a:lnTo>
                    <a:pt x="816993" y="1506679"/>
                  </a:lnTo>
                  <a:close/>
                  <a:moveTo>
                    <a:pt x="865538" y="1541400"/>
                  </a:moveTo>
                  <a:lnTo>
                    <a:pt x="837213" y="1521141"/>
                  </a:lnTo>
                  <a:lnTo>
                    <a:pt x="865537" y="1541399"/>
                  </a:lnTo>
                  <a:close/>
                  <a:moveTo>
                    <a:pt x="1015558" y="1576684"/>
                  </a:moveTo>
                  <a:lnTo>
                    <a:pt x="1015558" y="1576684"/>
                  </a:lnTo>
                  <a:cubicBezTo>
                    <a:pt x="970269" y="1576684"/>
                    <a:pt x="927124" y="1568728"/>
                    <a:pt x="887882" y="1554339"/>
                  </a:cubicBezTo>
                  <a:lnTo>
                    <a:pt x="869721" y="1545794"/>
                  </a:lnTo>
                  <a:lnTo>
                    <a:pt x="869720" y="1545794"/>
                  </a:lnTo>
                  <a:lnTo>
                    <a:pt x="887883" y="1554339"/>
                  </a:lnTo>
                  <a:cubicBezTo>
                    <a:pt x="907504" y="1561533"/>
                    <a:pt x="928100" y="1567120"/>
                    <a:pt x="949453" y="1570907"/>
                  </a:cubicBezTo>
                  <a:close/>
                  <a:moveTo>
                    <a:pt x="1393200" y="2026801"/>
                  </a:moveTo>
                  <a:lnTo>
                    <a:pt x="633600" y="2026801"/>
                  </a:lnTo>
                  <a:lnTo>
                    <a:pt x="633606" y="2026800"/>
                  </a:lnTo>
                  <a:lnTo>
                    <a:pt x="1393194" y="2026800"/>
                  </a:lnTo>
                  <a:close/>
                  <a:moveTo>
                    <a:pt x="2422864" y="869720"/>
                  </a:moveTo>
                  <a:lnTo>
                    <a:pt x="2414318" y="887882"/>
                  </a:lnTo>
                  <a:cubicBezTo>
                    <a:pt x="2399930" y="927124"/>
                    <a:pt x="2391973" y="970269"/>
                    <a:pt x="2391973" y="1015558"/>
                  </a:cubicBezTo>
                  <a:cubicBezTo>
                    <a:pt x="2391973" y="1060846"/>
                    <a:pt x="2399930" y="1103992"/>
                    <a:pt x="2414318" y="1143234"/>
                  </a:cubicBezTo>
                  <a:lnTo>
                    <a:pt x="2419187" y="1153580"/>
                  </a:lnTo>
                  <a:lnTo>
                    <a:pt x="2385177" y="1121210"/>
                  </a:lnTo>
                  <a:cubicBezTo>
                    <a:pt x="2339795" y="1085842"/>
                    <a:pt x="2285087" y="1065191"/>
                    <a:pt x="2226198" y="1065191"/>
                  </a:cubicBezTo>
                  <a:cubicBezTo>
                    <a:pt x="2167309" y="1065191"/>
                    <a:pt x="2112602" y="1085842"/>
                    <a:pt x="2067220" y="1121210"/>
                  </a:cubicBezTo>
                  <a:lnTo>
                    <a:pt x="2026800" y="1159681"/>
                  </a:lnTo>
                  <a:lnTo>
                    <a:pt x="2026800" y="1688993"/>
                  </a:lnTo>
                  <a:cubicBezTo>
                    <a:pt x="2026800" y="1875559"/>
                    <a:pt x="1875559" y="2026800"/>
                    <a:pt x="1688993" y="2026800"/>
                  </a:cubicBezTo>
                  <a:lnTo>
                    <a:pt x="1393194" y="2026800"/>
                  </a:lnTo>
                  <a:lnTo>
                    <a:pt x="1327095" y="2021024"/>
                  </a:lnTo>
                  <a:cubicBezTo>
                    <a:pt x="1177627" y="1994510"/>
                    <a:pt x="1065191" y="1879867"/>
                    <a:pt x="1065191" y="1742459"/>
                  </a:cubicBezTo>
                  <a:cubicBezTo>
                    <a:pt x="1065191" y="1683570"/>
                    <a:pt x="1085843" y="1628863"/>
                    <a:pt x="1121210" y="1583481"/>
                  </a:cubicBezTo>
                  <a:lnTo>
                    <a:pt x="1153581" y="1549471"/>
                  </a:lnTo>
                  <a:lnTo>
                    <a:pt x="1198951" y="1528123"/>
                  </a:lnTo>
                  <a:cubicBezTo>
                    <a:pt x="1216402" y="1517904"/>
                    <a:pt x="1232656" y="1506267"/>
                    <a:pt x="1247495" y="1493403"/>
                  </a:cubicBezTo>
                  <a:lnTo>
                    <a:pt x="1255178" y="1485331"/>
                  </a:lnTo>
                  <a:lnTo>
                    <a:pt x="1209807" y="1506679"/>
                  </a:lnTo>
                  <a:cubicBezTo>
                    <a:pt x="1192357" y="1516899"/>
                    <a:pt x="1176102" y="1528536"/>
                    <a:pt x="1161263" y="1541400"/>
                  </a:cubicBezTo>
                  <a:lnTo>
                    <a:pt x="1153580" y="1549471"/>
                  </a:lnTo>
                  <a:lnTo>
                    <a:pt x="1143234" y="1554339"/>
                  </a:lnTo>
                  <a:cubicBezTo>
                    <a:pt x="1103992" y="1568728"/>
                    <a:pt x="1060847" y="1576684"/>
                    <a:pt x="1015558" y="1576684"/>
                  </a:cubicBezTo>
                  <a:lnTo>
                    <a:pt x="1015558" y="1576684"/>
                  </a:lnTo>
                  <a:lnTo>
                    <a:pt x="1081663" y="1570907"/>
                  </a:lnTo>
                  <a:cubicBezTo>
                    <a:pt x="1103016" y="1567120"/>
                    <a:pt x="1123612" y="1561533"/>
                    <a:pt x="1143233" y="1554339"/>
                  </a:cubicBezTo>
                  <a:lnTo>
                    <a:pt x="1153580" y="1549471"/>
                  </a:lnTo>
                  <a:lnTo>
                    <a:pt x="1161263" y="1541399"/>
                  </a:lnTo>
                  <a:cubicBezTo>
                    <a:pt x="1176102" y="1528535"/>
                    <a:pt x="1192356" y="1516898"/>
                    <a:pt x="1209807" y="1506678"/>
                  </a:cubicBezTo>
                  <a:lnTo>
                    <a:pt x="1255178" y="1485331"/>
                  </a:lnTo>
                  <a:lnTo>
                    <a:pt x="1287548" y="1451321"/>
                  </a:lnTo>
                  <a:cubicBezTo>
                    <a:pt x="1322916" y="1405940"/>
                    <a:pt x="1343567" y="1351232"/>
                    <a:pt x="1343567" y="1292343"/>
                  </a:cubicBezTo>
                  <a:cubicBezTo>
                    <a:pt x="1343567" y="1135305"/>
                    <a:pt x="1196712" y="1008001"/>
                    <a:pt x="1015558" y="1008001"/>
                  </a:cubicBezTo>
                  <a:cubicBezTo>
                    <a:pt x="834403" y="1008001"/>
                    <a:pt x="687548" y="1135305"/>
                    <a:pt x="687548" y="1292343"/>
                  </a:cubicBezTo>
                  <a:cubicBezTo>
                    <a:pt x="687548" y="1351232"/>
                    <a:pt x="708200" y="1405940"/>
                    <a:pt x="743567" y="1451321"/>
                  </a:cubicBezTo>
                  <a:lnTo>
                    <a:pt x="779438" y="1489008"/>
                  </a:lnTo>
                  <a:lnTo>
                    <a:pt x="816993" y="1506678"/>
                  </a:lnTo>
                  <a:lnTo>
                    <a:pt x="779438" y="1489008"/>
                  </a:lnTo>
                  <a:lnTo>
                    <a:pt x="783621" y="1493402"/>
                  </a:lnTo>
                  <a:cubicBezTo>
                    <a:pt x="798460" y="1506266"/>
                    <a:pt x="814714" y="1517904"/>
                    <a:pt x="832165" y="1528124"/>
                  </a:cubicBezTo>
                  <a:lnTo>
                    <a:pt x="869720" y="1545794"/>
                  </a:lnTo>
                  <a:lnTo>
                    <a:pt x="869720" y="1545794"/>
                  </a:lnTo>
                  <a:lnTo>
                    <a:pt x="869721" y="1545794"/>
                  </a:lnTo>
                  <a:lnTo>
                    <a:pt x="905591" y="1583481"/>
                  </a:lnTo>
                  <a:cubicBezTo>
                    <a:pt x="940958" y="1628863"/>
                    <a:pt x="961610" y="1683570"/>
                    <a:pt x="961610" y="1742459"/>
                  </a:cubicBezTo>
                  <a:cubicBezTo>
                    <a:pt x="961610" y="1879867"/>
                    <a:pt x="849174" y="1994510"/>
                    <a:pt x="699706" y="2021024"/>
                  </a:cubicBezTo>
                  <a:lnTo>
                    <a:pt x="633606" y="2026800"/>
                  </a:lnTo>
                  <a:lnTo>
                    <a:pt x="337807" y="2026800"/>
                  </a:lnTo>
                  <a:cubicBezTo>
                    <a:pt x="151241" y="2026800"/>
                    <a:pt x="0" y="1875559"/>
                    <a:pt x="0" y="1688993"/>
                  </a:cubicBezTo>
                  <a:lnTo>
                    <a:pt x="0" y="337807"/>
                  </a:lnTo>
                  <a:cubicBezTo>
                    <a:pt x="0" y="151241"/>
                    <a:pt x="151241" y="0"/>
                    <a:pt x="337807" y="0"/>
                  </a:cubicBezTo>
                  <a:lnTo>
                    <a:pt x="1688993" y="0"/>
                  </a:lnTo>
                  <a:cubicBezTo>
                    <a:pt x="1875559" y="0"/>
                    <a:pt x="2026800" y="151241"/>
                    <a:pt x="2026800" y="337807"/>
                  </a:cubicBezTo>
                  <a:lnTo>
                    <a:pt x="2026800" y="867119"/>
                  </a:lnTo>
                  <a:lnTo>
                    <a:pt x="2067220" y="905591"/>
                  </a:lnTo>
                  <a:cubicBezTo>
                    <a:pt x="2112602" y="940958"/>
                    <a:pt x="2167309" y="961609"/>
                    <a:pt x="2226198" y="961609"/>
                  </a:cubicBezTo>
                  <a:cubicBezTo>
                    <a:pt x="2285087" y="961609"/>
                    <a:pt x="2339795" y="940958"/>
                    <a:pt x="2385177" y="905591"/>
                  </a:cubicBezTo>
                  <a:close/>
                  <a:moveTo>
                    <a:pt x="2446842" y="838157"/>
                  </a:moveTo>
                  <a:lnTo>
                    <a:pt x="2427258" y="865538"/>
                  </a:lnTo>
                  <a:lnTo>
                    <a:pt x="2427259" y="865537"/>
                  </a:lnTo>
                  <a:close/>
                  <a:moveTo>
                    <a:pt x="2483327" y="1255178"/>
                  </a:moveTo>
                  <a:lnTo>
                    <a:pt x="2475255" y="1247495"/>
                  </a:lnTo>
                  <a:cubicBezTo>
                    <a:pt x="2462391" y="1232656"/>
                    <a:pt x="2450754" y="1216402"/>
                    <a:pt x="2440535" y="1198951"/>
                  </a:cubicBezTo>
                  <a:lnTo>
                    <a:pt x="2419187" y="1153580"/>
                  </a:lnTo>
                  <a:lnTo>
                    <a:pt x="2427258" y="1161263"/>
                  </a:lnTo>
                  <a:cubicBezTo>
                    <a:pt x="2440122" y="1176102"/>
                    <a:pt x="2451759" y="1192357"/>
                    <a:pt x="2461979" y="1209807"/>
                  </a:cubicBezTo>
                  <a:close/>
                  <a:moveTo>
                    <a:pt x="2960657" y="1015558"/>
                  </a:moveTo>
                  <a:cubicBezTo>
                    <a:pt x="2960657" y="1196712"/>
                    <a:pt x="2833353" y="1343567"/>
                    <a:pt x="2676315" y="1343567"/>
                  </a:cubicBezTo>
                  <a:cubicBezTo>
                    <a:pt x="2617426" y="1343567"/>
                    <a:pt x="2562718" y="1322916"/>
                    <a:pt x="2517337" y="1287548"/>
                  </a:cubicBezTo>
                  <a:lnTo>
                    <a:pt x="2483327" y="1255178"/>
                  </a:lnTo>
                  <a:lnTo>
                    <a:pt x="2461980" y="1209807"/>
                  </a:lnTo>
                  <a:cubicBezTo>
                    <a:pt x="2451760" y="1192356"/>
                    <a:pt x="2440123" y="1176102"/>
                    <a:pt x="2427259" y="1161263"/>
                  </a:cubicBezTo>
                  <a:lnTo>
                    <a:pt x="2419187" y="1153580"/>
                  </a:lnTo>
                  <a:lnTo>
                    <a:pt x="2414319" y="1143233"/>
                  </a:lnTo>
                  <a:cubicBezTo>
                    <a:pt x="2399930" y="1103991"/>
                    <a:pt x="2391974" y="1060846"/>
                    <a:pt x="2391974" y="1015558"/>
                  </a:cubicBezTo>
                  <a:cubicBezTo>
                    <a:pt x="2391974" y="970269"/>
                    <a:pt x="2399930" y="927124"/>
                    <a:pt x="2414319" y="887882"/>
                  </a:cubicBezTo>
                  <a:lnTo>
                    <a:pt x="2422864" y="869720"/>
                  </a:lnTo>
                  <a:lnTo>
                    <a:pt x="2440534" y="832165"/>
                  </a:lnTo>
                  <a:cubicBezTo>
                    <a:pt x="2450754" y="814714"/>
                    <a:pt x="2462392" y="798460"/>
                    <a:pt x="2475256" y="783621"/>
                  </a:cubicBezTo>
                  <a:lnTo>
                    <a:pt x="2479650" y="779438"/>
                  </a:lnTo>
                  <a:lnTo>
                    <a:pt x="2517337" y="743567"/>
                  </a:lnTo>
                  <a:cubicBezTo>
                    <a:pt x="2562718" y="708200"/>
                    <a:pt x="2617426" y="687548"/>
                    <a:pt x="2676315" y="687548"/>
                  </a:cubicBezTo>
                  <a:cubicBezTo>
                    <a:pt x="2833353" y="687548"/>
                    <a:pt x="2960657" y="834403"/>
                    <a:pt x="2960657" y="1015558"/>
                  </a:cubicBezTo>
                  <a:close/>
                </a:path>
              </a:pathLst>
            </a:cu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35" name="Freeform: Shape 34">
              <a:extLst>
                <a:ext uri="{FF2B5EF4-FFF2-40B4-BE49-F238E27FC236}">
                  <a16:creationId xmlns:a16="http://schemas.microsoft.com/office/drawing/2014/main" id="{5A167B8A-D4AC-30D6-E843-DB50AA667F74}"/>
                </a:ext>
              </a:extLst>
            </p:cNvPr>
            <p:cNvSpPr/>
            <p:nvPr/>
          </p:nvSpPr>
          <p:spPr>
            <a:xfrm>
              <a:off x="3538282" y="901880"/>
              <a:ext cx="2960657" cy="2026801"/>
            </a:xfrm>
            <a:custGeom>
              <a:avLst/>
              <a:gdLst>
                <a:gd name="csX0" fmla="*/ 837213 w 2960657"/>
                <a:gd name="csY0" fmla="*/ 1521141 h 2026801"/>
                <a:gd name="csX1" fmla="*/ 816993 w 2960657"/>
                <a:gd name="csY1" fmla="*/ 1506678 h 2026801"/>
                <a:gd name="csX2" fmla="*/ 816993 w 2960657"/>
                <a:gd name="csY2" fmla="*/ 1506679 h 2026801"/>
                <a:gd name="csX3" fmla="*/ 865538 w 2960657"/>
                <a:gd name="csY3" fmla="*/ 1541400 h 2026801"/>
                <a:gd name="csX4" fmla="*/ 837213 w 2960657"/>
                <a:gd name="csY4" fmla="*/ 1521141 h 2026801"/>
                <a:gd name="csX5" fmla="*/ 865537 w 2960657"/>
                <a:gd name="csY5" fmla="*/ 1541399 h 2026801"/>
                <a:gd name="csX6" fmla="*/ 1015558 w 2960657"/>
                <a:gd name="csY6" fmla="*/ 1576684 h 2026801"/>
                <a:gd name="csX7" fmla="*/ 1015558 w 2960657"/>
                <a:gd name="csY7" fmla="*/ 1576684 h 2026801"/>
                <a:gd name="csX8" fmla="*/ 887882 w 2960657"/>
                <a:gd name="csY8" fmla="*/ 1554339 h 2026801"/>
                <a:gd name="csX9" fmla="*/ 869721 w 2960657"/>
                <a:gd name="csY9" fmla="*/ 1545794 h 2026801"/>
                <a:gd name="csX10" fmla="*/ 869720 w 2960657"/>
                <a:gd name="csY10" fmla="*/ 1545794 h 2026801"/>
                <a:gd name="csX11" fmla="*/ 887883 w 2960657"/>
                <a:gd name="csY11" fmla="*/ 1554339 h 2026801"/>
                <a:gd name="csX12" fmla="*/ 949453 w 2960657"/>
                <a:gd name="csY12" fmla="*/ 1570907 h 2026801"/>
                <a:gd name="csX13" fmla="*/ 1393200 w 2960657"/>
                <a:gd name="csY13" fmla="*/ 2026801 h 2026801"/>
                <a:gd name="csX14" fmla="*/ 633600 w 2960657"/>
                <a:gd name="csY14" fmla="*/ 2026801 h 2026801"/>
                <a:gd name="csX15" fmla="*/ 633606 w 2960657"/>
                <a:gd name="csY15" fmla="*/ 2026800 h 2026801"/>
                <a:gd name="csX16" fmla="*/ 1393194 w 2960657"/>
                <a:gd name="csY16" fmla="*/ 2026800 h 2026801"/>
                <a:gd name="csX17" fmla="*/ 2422864 w 2960657"/>
                <a:gd name="csY17" fmla="*/ 869720 h 2026801"/>
                <a:gd name="csX18" fmla="*/ 2414318 w 2960657"/>
                <a:gd name="csY18" fmla="*/ 887882 h 2026801"/>
                <a:gd name="csX19" fmla="*/ 2391973 w 2960657"/>
                <a:gd name="csY19" fmla="*/ 1015558 h 2026801"/>
                <a:gd name="csX20" fmla="*/ 2414318 w 2960657"/>
                <a:gd name="csY20" fmla="*/ 1143234 h 2026801"/>
                <a:gd name="csX21" fmla="*/ 2419187 w 2960657"/>
                <a:gd name="csY21" fmla="*/ 1153580 h 2026801"/>
                <a:gd name="csX22" fmla="*/ 2385177 w 2960657"/>
                <a:gd name="csY22" fmla="*/ 1121210 h 2026801"/>
                <a:gd name="csX23" fmla="*/ 2226198 w 2960657"/>
                <a:gd name="csY23" fmla="*/ 1065191 h 2026801"/>
                <a:gd name="csX24" fmla="*/ 2067220 w 2960657"/>
                <a:gd name="csY24" fmla="*/ 1121210 h 2026801"/>
                <a:gd name="csX25" fmla="*/ 2026800 w 2960657"/>
                <a:gd name="csY25" fmla="*/ 1159681 h 2026801"/>
                <a:gd name="csX26" fmla="*/ 2026800 w 2960657"/>
                <a:gd name="csY26" fmla="*/ 1688993 h 2026801"/>
                <a:gd name="csX27" fmla="*/ 1688993 w 2960657"/>
                <a:gd name="csY27" fmla="*/ 2026800 h 2026801"/>
                <a:gd name="csX28" fmla="*/ 1393194 w 2960657"/>
                <a:gd name="csY28" fmla="*/ 2026800 h 2026801"/>
                <a:gd name="csX29" fmla="*/ 1327095 w 2960657"/>
                <a:gd name="csY29" fmla="*/ 2021024 h 2026801"/>
                <a:gd name="csX30" fmla="*/ 1065191 w 2960657"/>
                <a:gd name="csY30" fmla="*/ 1742459 h 2026801"/>
                <a:gd name="csX31" fmla="*/ 1121210 w 2960657"/>
                <a:gd name="csY31" fmla="*/ 1583481 h 2026801"/>
                <a:gd name="csX32" fmla="*/ 1153581 w 2960657"/>
                <a:gd name="csY32" fmla="*/ 1549471 h 2026801"/>
                <a:gd name="csX33" fmla="*/ 1198951 w 2960657"/>
                <a:gd name="csY33" fmla="*/ 1528123 h 2026801"/>
                <a:gd name="csX34" fmla="*/ 1247495 w 2960657"/>
                <a:gd name="csY34" fmla="*/ 1493403 h 2026801"/>
                <a:gd name="csX35" fmla="*/ 1255178 w 2960657"/>
                <a:gd name="csY35" fmla="*/ 1485331 h 2026801"/>
                <a:gd name="csX36" fmla="*/ 1209807 w 2960657"/>
                <a:gd name="csY36" fmla="*/ 1506679 h 2026801"/>
                <a:gd name="csX37" fmla="*/ 1161263 w 2960657"/>
                <a:gd name="csY37" fmla="*/ 1541400 h 2026801"/>
                <a:gd name="csX38" fmla="*/ 1153580 w 2960657"/>
                <a:gd name="csY38" fmla="*/ 1549471 h 2026801"/>
                <a:gd name="csX39" fmla="*/ 1143234 w 2960657"/>
                <a:gd name="csY39" fmla="*/ 1554339 h 2026801"/>
                <a:gd name="csX40" fmla="*/ 1015558 w 2960657"/>
                <a:gd name="csY40" fmla="*/ 1576684 h 2026801"/>
                <a:gd name="csX41" fmla="*/ 1015558 w 2960657"/>
                <a:gd name="csY41" fmla="*/ 1576684 h 2026801"/>
                <a:gd name="csX42" fmla="*/ 1081663 w 2960657"/>
                <a:gd name="csY42" fmla="*/ 1570907 h 2026801"/>
                <a:gd name="csX43" fmla="*/ 1143233 w 2960657"/>
                <a:gd name="csY43" fmla="*/ 1554339 h 2026801"/>
                <a:gd name="csX44" fmla="*/ 1153580 w 2960657"/>
                <a:gd name="csY44" fmla="*/ 1549471 h 2026801"/>
                <a:gd name="csX45" fmla="*/ 1161263 w 2960657"/>
                <a:gd name="csY45" fmla="*/ 1541399 h 2026801"/>
                <a:gd name="csX46" fmla="*/ 1209807 w 2960657"/>
                <a:gd name="csY46" fmla="*/ 1506678 h 2026801"/>
                <a:gd name="csX47" fmla="*/ 1255178 w 2960657"/>
                <a:gd name="csY47" fmla="*/ 1485331 h 2026801"/>
                <a:gd name="csX48" fmla="*/ 1287548 w 2960657"/>
                <a:gd name="csY48" fmla="*/ 1451321 h 2026801"/>
                <a:gd name="csX49" fmla="*/ 1343567 w 2960657"/>
                <a:gd name="csY49" fmla="*/ 1292343 h 2026801"/>
                <a:gd name="csX50" fmla="*/ 1015558 w 2960657"/>
                <a:gd name="csY50" fmla="*/ 1008001 h 2026801"/>
                <a:gd name="csX51" fmla="*/ 687548 w 2960657"/>
                <a:gd name="csY51" fmla="*/ 1292343 h 2026801"/>
                <a:gd name="csX52" fmla="*/ 743567 w 2960657"/>
                <a:gd name="csY52" fmla="*/ 1451321 h 2026801"/>
                <a:gd name="csX53" fmla="*/ 779438 w 2960657"/>
                <a:gd name="csY53" fmla="*/ 1489008 h 2026801"/>
                <a:gd name="csX54" fmla="*/ 816993 w 2960657"/>
                <a:gd name="csY54" fmla="*/ 1506678 h 2026801"/>
                <a:gd name="csX55" fmla="*/ 779438 w 2960657"/>
                <a:gd name="csY55" fmla="*/ 1489008 h 2026801"/>
                <a:gd name="csX56" fmla="*/ 783621 w 2960657"/>
                <a:gd name="csY56" fmla="*/ 1493402 h 2026801"/>
                <a:gd name="csX57" fmla="*/ 832165 w 2960657"/>
                <a:gd name="csY57" fmla="*/ 1528124 h 2026801"/>
                <a:gd name="csX58" fmla="*/ 869720 w 2960657"/>
                <a:gd name="csY58" fmla="*/ 1545794 h 2026801"/>
                <a:gd name="csX59" fmla="*/ 869720 w 2960657"/>
                <a:gd name="csY59" fmla="*/ 1545794 h 2026801"/>
                <a:gd name="csX60" fmla="*/ 869721 w 2960657"/>
                <a:gd name="csY60" fmla="*/ 1545794 h 2026801"/>
                <a:gd name="csX61" fmla="*/ 905591 w 2960657"/>
                <a:gd name="csY61" fmla="*/ 1583481 h 2026801"/>
                <a:gd name="csX62" fmla="*/ 961610 w 2960657"/>
                <a:gd name="csY62" fmla="*/ 1742459 h 2026801"/>
                <a:gd name="csX63" fmla="*/ 699706 w 2960657"/>
                <a:gd name="csY63" fmla="*/ 2021024 h 2026801"/>
                <a:gd name="csX64" fmla="*/ 633606 w 2960657"/>
                <a:gd name="csY64" fmla="*/ 2026800 h 2026801"/>
                <a:gd name="csX65" fmla="*/ 337807 w 2960657"/>
                <a:gd name="csY65" fmla="*/ 2026800 h 2026801"/>
                <a:gd name="csX66" fmla="*/ 0 w 2960657"/>
                <a:gd name="csY66" fmla="*/ 1688993 h 2026801"/>
                <a:gd name="csX67" fmla="*/ 0 w 2960657"/>
                <a:gd name="csY67" fmla="*/ 337807 h 2026801"/>
                <a:gd name="csX68" fmla="*/ 337807 w 2960657"/>
                <a:gd name="csY68" fmla="*/ 0 h 2026801"/>
                <a:gd name="csX69" fmla="*/ 1688993 w 2960657"/>
                <a:gd name="csY69" fmla="*/ 0 h 2026801"/>
                <a:gd name="csX70" fmla="*/ 2026800 w 2960657"/>
                <a:gd name="csY70" fmla="*/ 337807 h 2026801"/>
                <a:gd name="csX71" fmla="*/ 2026800 w 2960657"/>
                <a:gd name="csY71" fmla="*/ 867119 h 2026801"/>
                <a:gd name="csX72" fmla="*/ 2067220 w 2960657"/>
                <a:gd name="csY72" fmla="*/ 905591 h 2026801"/>
                <a:gd name="csX73" fmla="*/ 2226198 w 2960657"/>
                <a:gd name="csY73" fmla="*/ 961609 h 2026801"/>
                <a:gd name="csX74" fmla="*/ 2385177 w 2960657"/>
                <a:gd name="csY74" fmla="*/ 905591 h 2026801"/>
                <a:gd name="csX75" fmla="*/ 2446842 w 2960657"/>
                <a:gd name="csY75" fmla="*/ 838157 h 2026801"/>
                <a:gd name="csX76" fmla="*/ 2427258 w 2960657"/>
                <a:gd name="csY76" fmla="*/ 865538 h 2026801"/>
                <a:gd name="csX77" fmla="*/ 2427259 w 2960657"/>
                <a:gd name="csY77" fmla="*/ 865537 h 2026801"/>
                <a:gd name="csX78" fmla="*/ 2483327 w 2960657"/>
                <a:gd name="csY78" fmla="*/ 1255178 h 2026801"/>
                <a:gd name="csX79" fmla="*/ 2475255 w 2960657"/>
                <a:gd name="csY79" fmla="*/ 1247495 h 2026801"/>
                <a:gd name="csX80" fmla="*/ 2440535 w 2960657"/>
                <a:gd name="csY80" fmla="*/ 1198951 h 2026801"/>
                <a:gd name="csX81" fmla="*/ 2419187 w 2960657"/>
                <a:gd name="csY81" fmla="*/ 1153580 h 2026801"/>
                <a:gd name="csX82" fmla="*/ 2427258 w 2960657"/>
                <a:gd name="csY82" fmla="*/ 1161263 h 2026801"/>
                <a:gd name="csX83" fmla="*/ 2461979 w 2960657"/>
                <a:gd name="csY83" fmla="*/ 1209807 h 2026801"/>
                <a:gd name="csX84" fmla="*/ 2960657 w 2960657"/>
                <a:gd name="csY84" fmla="*/ 1015558 h 2026801"/>
                <a:gd name="csX85" fmla="*/ 2676315 w 2960657"/>
                <a:gd name="csY85" fmla="*/ 1343567 h 2026801"/>
                <a:gd name="csX86" fmla="*/ 2517337 w 2960657"/>
                <a:gd name="csY86" fmla="*/ 1287548 h 2026801"/>
                <a:gd name="csX87" fmla="*/ 2483327 w 2960657"/>
                <a:gd name="csY87" fmla="*/ 1255178 h 2026801"/>
                <a:gd name="csX88" fmla="*/ 2461980 w 2960657"/>
                <a:gd name="csY88" fmla="*/ 1209807 h 2026801"/>
                <a:gd name="csX89" fmla="*/ 2427259 w 2960657"/>
                <a:gd name="csY89" fmla="*/ 1161263 h 2026801"/>
                <a:gd name="csX90" fmla="*/ 2419187 w 2960657"/>
                <a:gd name="csY90" fmla="*/ 1153580 h 2026801"/>
                <a:gd name="csX91" fmla="*/ 2414319 w 2960657"/>
                <a:gd name="csY91" fmla="*/ 1143233 h 2026801"/>
                <a:gd name="csX92" fmla="*/ 2391974 w 2960657"/>
                <a:gd name="csY92" fmla="*/ 1015558 h 2026801"/>
                <a:gd name="csX93" fmla="*/ 2414319 w 2960657"/>
                <a:gd name="csY93" fmla="*/ 887882 h 2026801"/>
                <a:gd name="csX94" fmla="*/ 2422864 w 2960657"/>
                <a:gd name="csY94" fmla="*/ 869720 h 2026801"/>
                <a:gd name="csX95" fmla="*/ 2440534 w 2960657"/>
                <a:gd name="csY95" fmla="*/ 832165 h 2026801"/>
                <a:gd name="csX96" fmla="*/ 2475256 w 2960657"/>
                <a:gd name="csY96" fmla="*/ 783621 h 2026801"/>
                <a:gd name="csX97" fmla="*/ 2479650 w 2960657"/>
                <a:gd name="csY97" fmla="*/ 779438 h 2026801"/>
                <a:gd name="csX98" fmla="*/ 2517337 w 2960657"/>
                <a:gd name="csY98" fmla="*/ 743567 h 2026801"/>
                <a:gd name="csX99" fmla="*/ 2676315 w 2960657"/>
                <a:gd name="csY99" fmla="*/ 687548 h 2026801"/>
                <a:gd name="csX100" fmla="*/ 2960657 w 2960657"/>
                <a:gd name="csY100" fmla="*/ 1015558 h 20268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2960657" h="2026801">
                  <a:moveTo>
                    <a:pt x="837213" y="1521141"/>
                  </a:moveTo>
                  <a:lnTo>
                    <a:pt x="816993" y="1506678"/>
                  </a:lnTo>
                  <a:lnTo>
                    <a:pt x="816993" y="1506679"/>
                  </a:lnTo>
                  <a:close/>
                  <a:moveTo>
                    <a:pt x="865538" y="1541400"/>
                  </a:moveTo>
                  <a:lnTo>
                    <a:pt x="837213" y="1521141"/>
                  </a:lnTo>
                  <a:lnTo>
                    <a:pt x="865537" y="1541399"/>
                  </a:lnTo>
                  <a:close/>
                  <a:moveTo>
                    <a:pt x="1015558" y="1576684"/>
                  </a:moveTo>
                  <a:lnTo>
                    <a:pt x="1015558" y="1576684"/>
                  </a:lnTo>
                  <a:cubicBezTo>
                    <a:pt x="970269" y="1576684"/>
                    <a:pt x="927124" y="1568728"/>
                    <a:pt x="887882" y="1554339"/>
                  </a:cubicBezTo>
                  <a:lnTo>
                    <a:pt x="869721" y="1545794"/>
                  </a:lnTo>
                  <a:lnTo>
                    <a:pt x="869720" y="1545794"/>
                  </a:lnTo>
                  <a:lnTo>
                    <a:pt x="887883" y="1554339"/>
                  </a:lnTo>
                  <a:cubicBezTo>
                    <a:pt x="907504" y="1561533"/>
                    <a:pt x="928100" y="1567120"/>
                    <a:pt x="949453" y="1570907"/>
                  </a:cubicBezTo>
                  <a:close/>
                  <a:moveTo>
                    <a:pt x="1393200" y="2026801"/>
                  </a:moveTo>
                  <a:lnTo>
                    <a:pt x="633600" y="2026801"/>
                  </a:lnTo>
                  <a:lnTo>
                    <a:pt x="633606" y="2026800"/>
                  </a:lnTo>
                  <a:lnTo>
                    <a:pt x="1393194" y="2026800"/>
                  </a:lnTo>
                  <a:close/>
                  <a:moveTo>
                    <a:pt x="2422864" y="869720"/>
                  </a:moveTo>
                  <a:lnTo>
                    <a:pt x="2414318" y="887882"/>
                  </a:lnTo>
                  <a:cubicBezTo>
                    <a:pt x="2399930" y="927124"/>
                    <a:pt x="2391973" y="970269"/>
                    <a:pt x="2391973" y="1015558"/>
                  </a:cubicBezTo>
                  <a:cubicBezTo>
                    <a:pt x="2391973" y="1060846"/>
                    <a:pt x="2399930" y="1103992"/>
                    <a:pt x="2414318" y="1143234"/>
                  </a:cubicBezTo>
                  <a:lnTo>
                    <a:pt x="2419187" y="1153580"/>
                  </a:lnTo>
                  <a:lnTo>
                    <a:pt x="2385177" y="1121210"/>
                  </a:lnTo>
                  <a:cubicBezTo>
                    <a:pt x="2339795" y="1085842"/>
                    <a:pt x="2285087" y="1065191"/>
                    <a:pt x="2226198" y="1065191"/>
                  </a:cubicBezTo>
                  <a:cubicBezTo>
                    <a:pt x="2167309" y="1065191"/>
                    <a:pt x="2112602" y="1085842"/>
                    <a:pt x="2067220" y="1121210"/>
                  </a:cubicBezTo>
                  <a:lnTo>
                    <a:pt x="2026800" y="1159681"/>
                  </a:lnTo>
                  <a:lnTo>
                    <a:pt x="2026800" y="1688993"/>
                  </a:lnTo>
                  <a:cubicBezTo>
                    <a:pt x="2026800" y="1875559"/>
                    <a:pt x="1875559" y="2026800"/>
                    <a:pt x="1688993" y="2026800"/>
                  </a:cubicBezTo>
                  <a:lnTo>
                    <a:pt x="1393194" y="2026800"/>
                  </a:lnTo>
                  <a:lnTo>
                    <a:pt x="1327095" y="2021024"/>
                  </a:lnTo>
                  <a:cubicBezTo>
                    <a:pt x="1177627" y="1994510"/>
                    <a:pt x="1065191" y="1879867"/>
                    <a:pt x="1065191" y="1742459"/>
                  </a:cubicBezTo>
                  <a:cubicBezTo>
                    <a:pt x="1065191" y="1683570"/>
                    <a:pt x="1085843" y="1628863"/>
                    <a:pt x="1121210" y="1583481"/>
                  </a:cubicBezTo>
                  <a:lnTo>
                    <a:pt x="1153581" y="1549471"/>
                  </a:lnTo>
                  <a:lnTo>
                    <a:pt x="1198951" y="1528123"/>
                  </a:lnTo>
                  <a:cubicBezTo>
                    <a:pt x="1216402" y="1517904"/>
                    <a:pt x="1232656" y="1506267"/>
                    <a:pt x="1247495" y="1493403"/>
                  </a:cubicBezTo>
                  <a:lnTo>
                    <a:pt x="1255178" y="1485331"/>
                  </a:lnTo>
                  <a:lnTo>
                    <a:pt x="1209807" y="1506679"/>
                  </a:lnTo>
                  <a:cubicBezTo>
                    <a:pt x="1192357" y="1516899"/>
                    <a:pt x="1176102" y="1528536"/>
                    <a:pt x="1161263" y="1541400"/>
                  </a:cubicBezTo>
                  <a:lnTo>
                    <a:pt x="1153580" y="1549471"/>
                  </a:lnTo>
                  <a:lnTo>
                    <a:pt x="1143234" y="1554339"/>
                  </a:lnTo>
                  <a:cubicBezTo>
                    <a:pt x="1103992" y="1568728"/>
                    <a:pt x="1060847" y="1576684"/>
                    <a:pt x="1015558" y="1576684"/>
                  </a:cubicBezTo>
                  <a:lnTo>
                    <a:pt x="1015558" y="1576684"/>
                  </a:lnTo>
                  <a:lnTo>
                    <a:pt x="1081663" y="1570907"/>
                  </a:lnTo>
                  <a:cubicBezTo>
                    <a:pt x="1103016" y="1567120"/>
                    <a:pt x="1123612" y="1561533"/>
                    <a:pt x="1143233" y="1554339"/>
                  </a:cubicBezTo>
                  <a:lnTo>
                    <a:pt x="1153580" y="1549471"/>
                  </a:lnTo>
                  <a:lnTo>
                    <a:pt x="1161263" y="1541399"/>
                  </a:lnTo>
                  <a:cubicBezTo>
                    <a:pt x="1176102" y="1528535"/>
                    <a:pt x="1192356" y="1516898"/>
                    <a:pt x="1209807" y="1506678"/>
                  </a:cubicBezTo>
                  <a:lnTo>
                    <a:pt x="1255178" y="1485331"/>
                  </a:lnTo>
                  <a:lnTo>
                    <a:pt x="1287548" y="1451321"/>
                  </a:lnTo>
                  <a:cubicBezTo>
                    <a:pt x="1322916" y="1405940"/>
                    <a:pt x="1343567" y="1351232"/>
                    <a:pt x="1343567" y="1292343"/>
                  </a:cubicBezTo>
                  <a:cubicBezTo>
                    <a:pt x="1343567" y="1135305"/>
                    <a:pt x="1196712" y="1008001"/>
                    <a:pt x="1015558" y="1008001"/>
                  </a:cubicBezTo>
                  <a:cubicBezTo>
                    <a:pt x="834403" y="1008001"/>
                    <a:pt x="687548" y="1135305"/>
                    <a:pt x="687548" y="1292343"/>
                  </a:cubicBezTo>
                  <a:cubicBezTo>
                    <a:pt x="687548" y="1351232"/>
                    <a:pt x="708200" y="1405940"/>
                    <a:pt x="743567" y="1451321"/>
                  </a:cubicBezTo>
                  <a:lnTo>
                    <a:pt x="779438" y="1489008"/>
                  </a:lnTo>
                  <a:lnTo>
                    <a:pt x="816993" y="1506678"/>
                  </a:lnTo>
                  <a:lnTo>
                    <a:pt x="779438" y="1489008"/>
                  </a:lnTo>
                  <a:lnTo>
                    <a:pt x="783621" y="1493402"/>
                  </a:lnTo>
                  <a:cubicBezTo>
                    <a:pt x="798460" y="1506266"/>
                    <a:pt x="814714" y="1517904"/>
                    <a:pt x="832165" y="1528124"/>
                  </a:cubicBezTo>
                  <a:lnTo>
                    <a:pt x="869720" y="1545794"/>
                  </a:lnTo>
                  <a:lnTo>
                    <a:pt x="869720" y="1545794"/>
                  </a:lnTo>
                  <a:lnTo>
                    <a:pt x="869721" y="1545794"/>
                  </a:lnTo>
                  <a:lnTo>
                    <a:pt x="905591" y="1583481"/>
                  </a:lnTo>
                  <a:cubicBezTo>
                    <a:pt x="940958" y="1628863"/>
                    <a:pt x="961610" y="1683570"/>
                    <a:pt x="961610" y="1742459"/>
                  </a:cubicBezTo>
                  <a:cubicBezTo>
                    <a:pt x="961610" y="1879867"/>
                    <a:pt x="849174" y="1994510"/>
                    <a:pt x="699706" y="2021024"/>
                  </a:cubicBezTo>
                  <a:lnTo>
                    <a:pt x="633606" y="2026800"/>
                  </a:lnTo>
                  <a:lnTo>
                    <a:pt x="337807" y="2026800"/>
                  </a:lnTo>
                  <a:cubicBezTo>
                    <a:pt x="151241" y="2026800"/>
                    <a:pt x="0" y="1875559"/>
                    <a:pt x="0" y="1688993"/>
                  </a:cubicBezTo>
                  <a:lnTo>
                    <a:pt x="0" y="337807"/>
                  </a:lnTo>
                  <a:cubicBezTo>
                    <a:pt x="0" y="151241"/>
                    <a:pt x="151241" y="0"/>
                    <a:pt x="337807" y="0"/>
                  </a:cubicBezTo>
                  <a:lnTo>
                    <a:pt x="1688993" y="0"/>
                  </a:lnTo>
                  <a:cubicBezTo>
                    <a:pt x="1875559" y="0"/>
                    <a:pt x="2026800" y="151241"/>
                    <a:pt x="2026800" y="337807"/>
                  </a:cubicBezTo>
                  <a:lnTo>
                    <a:pt x="2026800" y="867119"/>
                  </a:lnTo>
                  <a:lnTo>
                    <a:pt x="2067220" y="905591"/>
                  </a:lnTo>
                  <a:cubicBezTo>
                    <a:pt x="2112602" y="940958"/>
                    <a:pt x="2167309" y="961609"/>
                    <a:pt x="2226198" y="961609"/>
                  </a:cubicBezTo>
                  <a:cubicBezTo>
                    <a:pt x="2285087" y="961609"/>
                    <a:pt x="2339795" y="940958"/>
                    <a:pt x="2385177" y="905591"/>
                  </a:cubicBezTo>
                  <a:close/>
                  <a:moveTo>
                    <a:pt x="2446842" y="838157"/>
                  </a:moveTo>
                  <a:lnTo>
                    <a:pt x="2427258" y="865538"/>
                  </a:lnTo>
                  <a:lnTo>
                    <a:pt x="2427259" y="865537"/>
                  </a:lnTo>
                  <a:close/>
                  <a:moveTo>
                    <a:pt x="2483327" y="1255178"/>
                  </a:moveTo>
                  <a:lnTo>
                    <a:pt x="2475255" y="1247495"/>
                  </a:lnTo>
                  <a:cubicBezTo>
                    <a:pt x="2462391" y="1232656"/>
                    <a:pt x="2450754" y="1216402"/>
                    <a:pt x="2440535" y="1198951"/>
                  </a:cubicBezTo>
                  <a:lnTo>
                    <a:pt x="2419187" y="1153580"/>
                  </a:lnTo>
                  <a:lnTo>
                    <a:pt x="2427258" y="1161263"/>
                  </a:lnTo>
                  <a:cubicBezTo>
                    <a:pt x="2440122" y="1176102"/>
                    <a:pt x="2451759" y="1192357"/>
                    <a:pt x="2461979" y="1209807"/>
                  </a:cubicBezTo>
                  <a:close/>
                  <a:moveTo>
                    <a:pt x="2960657" y="1015558"/>
                  </a:moveTo>
                  <a:cubicBezTo>
                    <a:pt x="2960657" y="1196712"/>
                    <a:pt x="2833353" y="1343567"/>
                    <a:pt x="2676315" y="1343567"/>
                  </a:cubicBezTo>
                  <a:cubicBezTo>
                    <a:pt x="2617426" y="1343567"/>
                    <a:pt x="2562718" y="1322916"/>
                    <a:pt x="2517337" y="1287548"/>
                  </a:cubicBezTo>
                  <a:lnTo>
                    <a:pt x="2483327" y="1255178"/>
                  </a:lnTo>
                  <a:lnTo>
                    <a:pt x="2461980" y="1209807"/>
                  </a:lnTo>
                  <a:cubicBezTo>
                    <a:pt x="2451760" y="1192356"/>
                    <a:pt x="2440123" y="1176102"/>
                    <a:pt x="2427259" y="1161263"/>
                  </a:cubicBezTo>
                  <a:lnTo>
                    <a:pt x="2419187" y="1153580"/>
                  </a:lnTo>
                  <a:lnTo>
                    <a:pt x="2414319" y="1143233"/>
                  </a:lnTo>
                  <a:cubicBezTo>
                    <a:pt x="2399930" y="1103991"/>
                    <a:pt x="2391974" y="1060846"/>
                    <a:pt x="2391974" y="1015558"/>
                  </a:cubicBezTo>
                  <a:cubicBezTo>
                    <a:pt x="2391974" y="970269"/>
                    <a:pt x="2399930" y="927124"/>
                    <a:pt x="2414319" y="887882"/>
                  </a:cubicBezTo>
                  <a:lnTo>
                    <a:pt x="2422864" y="869720"/>
                  </a:lnTo>
                  <a:lnTo>
                    <a:pt x="2440534" y="832165"/>
                  </a:lnTo>
                  <a:cubicBezTo>
                    <a:pt x="2450754" y="814714"/>
                    <a:pt x="2462392" y="798460"/>
                    <a:pt x="2475256" y="783621"/>
                  </a:cubicBezTo>
                  <a:lnTo>
                    <a:pt x="2479650" y="779438"/>
                  </a:lnTo>
                  <a:lnTo>
                    <a:pt x="2517337" y="743567"/>
                  </a:lnTo>
                  <a:cubicBezTo>
                    <a:pt x="2562718" y="708200"/>
                    <a:pt x="2617426" y="687548"/>
                    <a:pt x="2676315" y="687548"/>
                  </a:cubicBezTo>
                  <a:cubicBezTo>
                    <a:pt x="2833353" y="687548"/>
                    <a:pt x="2960657" y="834403"/>
                    <a:pt x="2960657" y="1015558"/>
                  </a:cubicBezTo>
                  <a:close/>
                </a:path>
              </a:pathLst>
            </a:cu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grpSp>
      <p:sp>
        <p:nvSpPr>
          <p:cNvPr id="37" name="TextBox 36">
            <a:extLst>
              <a:ext uri="{FF2B5EF4-FFF2-40B4-BE49-F238E27FC236}">
                <a16:creationId xmlns:a16="http://schemas.microsoft.com/office/drawing/2014/main" id="{70530DD8-B07B-5BFD-B9AD-4EA9427D8F0E}"/>
              </a:ext>
            </a:extLst>
          </p:cNvPr>
          <p:cNvSpPr txBox="1"/>
          <p:nvPr/>
        </p:nvSpPr>
        <p:spPr>
          <a:xfrm>
            <a:off x="6255615" y="1153990"/>
            <a:ext cx="1021573" cy="1323439"/>
          </a:xfrm>
          <a:prstGeom prst="rect">
            <a:avLst/>
          </a:prstGeom>
          <a:noFill/>
        </p:spPr>
        <p:txBody>
          <a:bodyPr wrap="square" rtlCol="0">
            <a:spAutoFit/>
          </a:bodyPr>
          <a:lstStyle/>
          <a:p>
            <a:r>
              <a:rPr lang="en-IN" sz="8000" dirty="0">
                <a:latin typeface="Bahnschrift Condensed" panose="020B0502040204020203" pitchFamily="34" charset="0"/>
              </a:rPr>
              <a:t>1</a:t>
            </a:r>
          </a:p>
        </p:txBody>
      </p:sp>
      <p:sp>
        <p:nvSpPr>
          <p:cNvPr id="40" name="TextBox 39">
            <a:extLst>
              <a:ext uri="{FF2B5EF4-FFF2-40B4-BE49-F238E27FC236}">
                <a16:creationId xmlns:a16="http://schemas.microsoft.com/office/drawing/2014/main" id="{ABDBCAF5-04A3-EE24-016F-34319D1EF14B}"/>
              </a:ext>
            </a:extLst>
          </p:cNvPr>
          <p:cNvSpPr txBox="1"/>
          <p:nvPr/>
        </p:nvSpPr>
        <p:spPr>
          <a:xfrm>
            <a:off x="7893958" y="3698733"/>
            <a:ext cx="1021573" cy="1323439"/>
          </a:xfrm>
          <a:prstGeom prst="rect">
            <a:avLst/>
          </a:prstGeom>
          <a:noFill/>
        </p:spPr>
        <p:txBody>
          <a:bodyPr wrap="square" rtlCol="0">
            <a:spAutoFit/>
          </a:bodyPr>
          <a:lstStyle/>
          <a:p>
            <a:r>
              <a:rPr lang="en-IN" sz="8000" dirty="0">
                <a:latin typeface="Bahnschrift Condensed" panose="020B0502040204020203" pitchFamily="34" charset="0"/>
              </a:rPr>
              <a:t>2</a:t>
            </a:r>
          </a:p>
        </p:txBody>
      </p:sp>
      <p:sp>
        <p:nvSpPr>
          <p:cNvPr id="41" name="TextBox 40">
            <a:extLst>
              <a:ext uri="{FF2B5EF4-FFF2-40B4-BE49-F238E27FC236}">
                <a16:creationId xmlns:a16="http://schemas.microsoft.com/office/drawing/2014/main" id="{6F4B0222-3CB0-3BD2-42C6-8D673CF8A35E}"/>
              </a:ext>
            </a:extLst>
          </p:cNvPr>
          <p:cNvSpPr txBox="1"/>
          <p:nvPr/>
        </p:nvSpPr>
        <p:spPr>
          <a:xfrm>
            <a:off x="3593476" y="2431894"/>
            <a:ext cx="547993" cy="1323439"/>
          </a:xfrm>
          <a:prstGeom prst="rect">
            <a:avLst/>
          </a:prstGeom>
          <a:noFill/>
        </p:spPr>
        <p:txBody>
          <a:bodyPr wrap="square" rtlCol="0">
            <a:spAutoFit/>
          </a:bodyPr>
          <a:lstStyle/>
          <a:p>
            <a:r>
              <a:rPr lang="en-IN" sz="8000" dirty="0">
                <a:latin typeface="Bahnschrift Condensed" panose="020B0502040204020203" pitchFamily="34" charset="0"/>
              </a:rPr>
              <a:t>4</a:t>
            </a:r>
          </a:p>
        </p:txBody>
      </p:sp>
      <p:sp>
        <p:nvSpPr>
          <p:cNvPr id="42" name="TextBox 41">
            <a:extLst>
              <a:ext uri="{FF2B5EF4-FFF2-40B4-BE49-F238E27FC236}">
                <a16:creationId xmlns:a16="http://schemas.microsoft.com/office/drawing/2014/main" id="{0D8424D3-B22E-4B7D-2710-AF27DCA29B7E}"/>
              </a:ext>
            </a:extLst>
          </p:cNvPr>
          <p:cNvSpPr txBox="1"/>
          <p:nvPr/>
        </p:nvSpPr>
        <p:spPr>
          <a:xfrm>
            <a:off x="5300010" y="4827665"/>
            <a:ext cx="547993" cy="1323439"/>
          </a:xfrm>
          <a:prstGeom prst="rect">
            <a:avLst/>
          </a:prstGeom>
          <a:noFill/>
        </p:spPr>
        <p:txBody>
          <a:bodyPr wrap="square" rtlCol="0">
            <a:spAutoFit/>
          </a:bodyPr>
          <a:lstStyle/>
          <a:p>
            <a:r>
              <a:rPr lang="en-IN" sz="8000" dirty="0">
                <a:latin typeface="Bahnschrift Condensed" panose="020B0502040204020203" pitchFamily="34" charset="0"/>
              </a:rPr>
              <a:t>3</a:t>
            </a:r>
          </a:p>
        </p:txBody>
      </p:sp>
      <p:sp>
        <p:nvSpPr>
          <p:cNvPr id="44" name="TextBox 43">
            <a:extLst>
              <a:ext uri="{FF2B5EF4-FFF2-40B4-BE49-F238E27FC236}">
                <a16:creationId xmlns:a16="http://schemas.microsoft.com/office/drawing/2014/main" id="{1D1F69E5-1E64-C2DA-9CE2-E689BF8D35A5}"/>
              </a:ext>
            </a:extLst>
          </p:cNvPr>
          <p:cNvSpPr txBox="1"/>
          <p:nvPr/>
        </p:nvSpPr>
        <p:spPr>
          <a:xfrm>
            <a:off x="8926006" y="1416232"/>
            <a:ext cx="3048811" cy="203132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Bahnschrift Condensed" panose="020B0502040204020203" pitchFamily="34" charset="0"/>
              </a:rPr>
              <a:t>To move beyond volume</a:t>
            </a:r>
            <a:r>
              <a:rPr lang="en-US" altLang="en-US" dirty="0">
                <a:latin typeface="Bahnschrift Condensed" panose="020B0502040204020203" pitchFamily="34" charset="0"/>
              </a:rPr>
              <a:t>-</a:t>
            </a:r>
            <a:r>
              <a:rPr kumimoji="0" lang="en-US" altLang="en-US" b="0" i="0" u="none" strike="noStrike" cap="none" normalizeH="0" dirty="0">
                <a:ln>
                  <a:noFill/>
                </a:ln>
                <a:solidFill>
                  <a:schemeClr val="tx1"/>
                </a:solidFill>
                <a:effectLst/>
                <a:latin typeface="Bahnschrift Condensed" panose="020B0502040204020203" pitchFamily="34" charset="0"/>
              </a:rPr>
              <a:t>based</a:t>
            </a:r>
            <a:r>
              <a:rPr kumimoji="0" lang="en-US" altLang="en-US" b="0" i="0" u="none" strike="noStrike" cap="none" normalizeH="0" baseline="0" dirty="0">
                <a:ln>
                  <a:noFill/>
                </a:ln>
                <a:solidFill>
                  <a:schemeClr val="tx1"/>
                </a:solidFill>
                <a:effectLst/>
                <a:latin typeface="Bahnschrift Condensed" panose="020B0502040204020203" pitchFamily="34" charset="0"/>
              </a:rPr>
              <a:t> reporting, we consolidated three distinct UIDAI datasets into a single master dataset totaling </a:t>
            </a:r>
            <a:r>
              <a:rPr kumimoji="0" lang="en-US" altLang="en-US" b="1" i="0" u="none" strike="noStrike" cap="none" normalizeH="0" baseline="0" dirty="0">
                <a:ln>
                  <a:noFill/>
                </a:ln>
                <a:solidFill>
                  <a:schemeClr val="tx1"/>
                </a:solidFill>
                <a:effectLst/>
                <a:latin typeface="Bahnschrift Condensed" panose="020B0502040204020203" pitchFamily="34" charset="0"/>
              </a:rPr>
              <a:t>2.9 million records</a:t>
            </a:r>
            <a:r>
              <a:rPr kumimoji="0" lang="en-US" altLang="en-US" b="0" i="0" u="none" strike="noStrike" cap="none" normalizeH="0" baseline="0" dirty="0">
                <a:ln>
                  <a:noFill/>
                </a:ln>
                <a:solidFill>
                  <a:schemeClr val="tx1"/>
                </a:solidFill>
                <a:effectLst/>
                <a:latin typeface="Bahnschrift Condensed" panose="020B0502040204020203" pitchFamily="34" charset="0"/>
              </a:rPr>
              <a:t> from March to December 2025. This unified data</a:t>
            </a:r>
            <a:r>
              <a:rPr kumimoji="0" lang="en-US" altLang="en-US" b="0" i="0" u="none" strike="noStrike" cap="none" normalizeH="0" dirty="0">
                <a:ln>
                  <a:noFill/>
                </a:ln>
                <a:solidFill>
                  <a:schemeClr val="tx1"/>
                </a:solidFill>
                <a:effectLst/>
                <a:latin typeface="Bahnschrift Condensed" panose="020B0502040204020203" pitchFamily="34" charset="0"/>
              </a:rPr>
              <a:t> </a:t>
            </a:r>
            <a:r>
              <a:rPr kumimoji="0" lang="en-US" altLang="en-US" b="0" i="0" u="none" strike="noStrike" cap="none" normalizeH="0" baseline="0" dirty="0">
                <a:ln>
                  <a:noFill/>
                </a:ln>
                <a:solidFill>
                  <a:schemeClr val="tx1"/>
                </a:solidFill>
                <a:effectLst/>
                <a:latin typeface="Bahnschrift Condensed" panose="020B0502040204020203" pitchFamily="34" charset="0"/>
              </a:rPr>
              <a:t>captures the complete resident lifecycle:</a:t>
            </a:r>
          </a:p>
        </p:txBody>
      </p:sp>
      <p:sp>
        <p:nvSpPr>
          <p:cNvPr id="46" name="TextBox 45">
            <a:extLst>
              <a:ext uri="{FF2B5EF4-FFF2-40B4-BE49-F238E27FC236}">
                <a16:creationId xmlns:a16="http://schemas.microsoft.com/office/drawing/2014/main" id="{830588AD-6D98-D60E-2736-B8302E9D09F6}"/>
              </a:ext>
            </a:extLst>
          </p:cNvPr>
          <p:cNvSpPr txBox="1"/>
          <p:nvPr/>
        </p:nvSpPr>
        <p:spPr>
          <a:xfrm>
            <a:off x="4249891" y="1571986"/>
            <a:ext cx="1600099" cy="707886"/>
          </a:xfrm>
          <a:prstGeom prst="rect">
            <a:avLst/>
          </a:prstGeom>
          <a:noFill/>
        </p:spPr>
        <p:txBody>
          <a:bodyPr wrap="square">
            <a:spAutoFit/>
          </a:bodyPr>
          <a:lstStyle/>
          <a:p>
            <a:r>
              <a:rPr kumimoji="0" lang="en-US" altLang="en-US" sz="2000" b="1" i="0" u="none" strike="noStrike" cap="none" normalizeH="0" baseline="0" dirty="0">
                <a:ln>
                  <a:noFill/>
                </a:ln>
                <a:solidFill>
                  <a:schemeClr val="tx1"/>
                </a:solidFill>
                <a:effectLst/>
                <a:latin typeface="Bahnschrift Condensed" panose="020B0502040204020203" pitchFamily="34" charset="0"/>
              </a:rPr>
              <a:t>ENROLMENT DATA</a:t>
            </a:r>
            <a:endParaRPr lang="en-IN" sz="2000" dirty="0">
              <a:latin typeface="Bahnschrift Condensed" panose="020B0502040204020203" pitchFamily="34" charset="0"/>
            </a:endParaRPr>
          </a:p>
        </p:txBody>
      </p:sp>
      <p:sp>
        <p:nvSpPr>
          <p:cNvPr id="48" name="TextBox 47">
            <a:extLst>
              <a:ext uri="{FF2B5EF4-FFF2-40B4-BE49-F238E27FC236}">
                <a16:creationId xmlns:a16="http://schemas.microsoft.com/office/drawing/2014/main" id="{19C4DBF7-37F9-20FA-59C2-6406C86DE3E6}"/>
              </a:ext>
            </a:extLst>
          </p:cNvPr>
          <p:cNvSpPr txBox="1"/>
          <p:nvPr/>
        </p:nvSpPr>
        <p:spPr>
          <a:xfrm>
            <a:off x="6539029" y="5070284"/>
            <a:ext cx="6094378" cy="461665"/>
          </a:xfrm>
          <a:prstGeom prst="rect">
            <a:avLst/>
          </a:prstGeom>
          <a:noFill/>
        </p:spPr>
        <p:txBody>
          <a:bodyPr wrap="square">
            <a:spAutoFit/>
          </a:bodyPr>
          <a:lstStyle/>
          <a:p>
            <a:r>
              <a:rPr kumimoji="0" lang="en-US" altLang="en-US" sz="2400" b="1" i="0" u="none" strike="noStrike" cap="none" normalizeH="0" baseline="0" dirty="0">
                <a:ln>
                  <a:noFill/>
                </a:ln>
                <a:solidFill>
                  <a:schemeClr val="tx1"/>
                </a:solidFill>
                <a:effectLst/>
                <a:latin typeface="Bahnschrift Condensed" panose="020B0502040204020203" pitchFamily="34" charset="0"/>
              </a:rPr>
              <a:t>BIOMETRIC UPDATES</a:t>
            </a:r>
            <a:endParaRPr lang="en-IN" sz="2400" dirty="0">
              <a:latin typeface="Bahnschrift Condensed" panose="020B0502040204020203" pitchFamily="34" charset="0"/>
            </a:endParaRPr>
          </a:p>
        </p:txBody>
      </p:sp>
      <p:sp>
        <p:nvSpPr>
          <p:cNvPr id="50" name="TextBox 49">
            <a:extLst>
              <a:ext uri="{FF2B5EF4-FFF2-40B4-BE49-F238E27FC236}">
                <a16:creationId xmlns:a16="http://schemas.microsoft.com/office/drawing/2014/main" id="{CD801DF2-E8FB-B755-32DF-BB162F22473A}"/>
              </a:ext>
            </a:extLst>
          </p:cNvPr>
          <p:cNvSpPr txBox="1"/>
          <p:nvPr/>
        </p:nvSpPr>
        <p:spPr>
          <a:xfrm>
            <a:off x="-54383" y="1549439"/>
            <a:ext cx="3241436" cy="1200329"/>
          </a:xfrm>
          <a:prstGeom prst="rect">
            <a:avLst/>
          </a:prstGeom>
          <a:noFill/>
        </p:spPr>
        <p:txBody>
          <a:bodyPr wrap="square">
            <a:spAutoFit/>
          </a:bodyPr>
          <a:lstStyle/>
          <a:p>
            <a:pPr lvl="1" eaLnBrk="0" fontAlgn="base" hangingPunct="0">
              <a:spcBef>
                <a:spcPct val="0"/>
              </a:spcBef>
              <a:spcAft>
                <a:spcPct val="0"/>
              </a:spcAft>
              <a:buFontTx/>
              <a:buChar char="•"/>
            </a:pPr>
            <a:r>
              <a:rPr kumimoji="0" lang="en-US" altLang="en-US" b="0" i="0" u="none" strike="noStrike" cap="none" normalizeH="0" baseline="0" dirty="0">
                <a:ln>
                  <a:noFill/>
                </a:ln>
                <a:solidFill>
                  <a:schemeClr val="tx1"/>
                </a:solidFill>
                <a:effectLst/>
                <a:latin typeface="Bahnschrift Condensed" panose="020B0502040204020203" pitchFamily="34" charset="0"/>
              </a:rPr>
              <a:t>Tracks fresh Aadhaar generation to establish a baseline for </a:t>
            </a:r>
            <a:r>
              <a:rPr kumimoji="0" lang="en-US" altLang="en-US" b="1" i="0" u="none" strike="noStrike" cap="none" normalizeH="0" baseline="0" dirty="0">
                <a:ln>
                  <a:noFill/>
                </a:ln>
                <a:solidFill>
                  <a:schemeClr val="tx1"/>
                </a:solidFill>
                <a:effectLst/>
                <a:latin typeface="Bahnschrift Condensed" panose="020B0502040204020203" pitchFamily="34" charset="0"/>
              </a:rPr>
              <a:t>"Growth"</a:t>
            </a:r>
            <a:r>
              <a:rPr kumimoji="0" lang="en-US" altLang="en-US" b="0" i="0" u="none" strike="noStrike" cap="none" normalizeH="0" baseline="0" dirty="0">
                <a:ln>
                  <a:noFill/>
                </a:ln>
                <a:solidFill>
                  <a:schemeClr val="tx1"/>
                </a:solidFill>
                <a:effectLst/>
                <a:latin typeface="Bahnschrift Condensed" panose="020B0502040204020203" pitchFamily="34" charset="0"/>
              </a:rPr>
              <a:t> and population saturation.</a:t>
            </a:r>
          </a:p>
        </p:txBody>
      </p:sp>
      <p:sp>
        <p:nvSpPr>
          <p:cNvPr id="52" name="TextBox 51">
            <a:extLst>
              <a:ext uri="{FF2B5EF4-FFF2-40B4-BE49-F238E27FC236}">
                <a16:creationId xmlns:a16="http://schemas.microsoft.com/office/drawing/2014/main" id="{B0E9182F-B6EB-A0E8-918D-F4965C6079D4}"/>
              </a:ext>
            </a:extLst>
          </p:cNvPr>
          <p:cNvSpPr txBox="1"/>
          <p:nvPr/>
        </p:nvSpPr>
        <p:spPr>
          <a:xfrm>
            <a:off x="9013556" y="4745510"/>
            <a:ext cx="3270398" cy="923330"/>
          </a:xfrm>
          <a:prstGeom prst="rect">
            <a:avLst/>
          </a:prstGeom>
          <a:noFill/>
        </p:spPr>
        <p:txBody>
          <a:bodyPr wrap="square">
            <a:spAutoFit/>
          </a:bodyPr>
          <a:lstStyle/>
          <a:p>
            <a:r>
              <a:rPr kumimoji="0" lang="en-US" altLang="en-US" b="0" i="0" u="none" strike="noStrike" cap="none" normalizeH="0" baseline="0" dirty="0">
                <a:ln>
                  <a:noFill/>
                </a:ln>
                <a:solidFill>
                  <a:schemeClr val="tx1"/>
                </a:solidFill>
                <a:effectLst/>
                <a:latin typeface="Bahnschrift Condensed" panose="020B0502040204020203" pitchFamily="34" charset="0"/>
              </a:rPr>
              <a:t>Monitors mandatory updates for children, serving as the primary indicator for </a:t>
            </a:r>
            <a:r>
              <a:rPr kumimoji="0" lang="en-US" altLang="en-US" b="1" i="0" u="none" strike="noStrike" cap="none" normalizeH="0" baseline="0" dirty="0">
                <a:ln>
                  <a:noFill/>
                </a:ln>
                <a:solidFill>
                  <a:schemeClr val="tx1"/>
                </a:solidFill>
                <a:effectLst/>
                <a:latin typeface="Bahnschrift Condensed" panose="020B0502040204020203" pitchFamily="34" charset="0"/>
              </a:rPr>
              <a:t>Compliance</a:t>
            </a:r>
            <a:r>
              <a:rPr kumimoji="0" lang="en-US" altLang="en-US" b="0" i="0" u="none" strike="noStrike" cap="none" normalizeH="0" baseline="0" dirty="0">
                <a:ln>
                  <a:noFill/>
                </a:ln>
                <a:solidFill>
                  <a:schemeClr val="tx1"/>
                </a:solidFill>
                <a:effectLst/>
                <a:latin typeface="Bahnschrift Condensed" panose="020B0502040204020203" pitchFamily="34" charset="0"/>
              </a:rPr>
              <a:t>.</a:t>
            </a:r>
            <a:endParaRPr lang="en-IN" dirty="0">
              <a:latin typeface="Bahnschrift Condensed" panose="020B0502040204020203" pitchFamily="34" charset="0"/>
            </a:endParaRPr>
          </a:p>
        </p:txBody>
      </p:sp>
      <p:sp>
        <p:nvSpPr>
          <p:cNvPr id="54" name="TextBox 53">
            <a:extLst>
              <a:ext uri="{FF2B5EF4-FFF2-40B4-BE49-F238E27FC236}">
                <a16:creationId xmlns:a16="http://schemas.microsoft.com/office/drawing/2014/main" id="{B5BB0134-379C-1F6E-686C-53D26757B8EB}"/>
              </a:ext>
            </a:extLst>
          </p:cNvPr>
          <p:cNvSpPr txBox="1"/>
          <p:nvPr/>
        </p:nvSpPr>
        <p:spPr>
          <a:xfrm>
            <a:off x="3550651" y="4136689"/>
            <a:ext cx="1947875" cy="707886"/>
          </a:xfrm>
          <a:prstGeom prst="rect">
            <a:avLst/>
          </a:prstGeom>
          <a:noFill/>
        </p:spPr>
        <p:txBody>
          <a:bodyPr wrap="square">
            <a:spAutoFit/>
          </a:bodyPr>
          <a:lstStyle/>
          <a:p>
            <a:r>
              <a:rPr kumimoji="0" lang="en-US" altLang="en-US" sz="2000" b="1" i="0" u="none" strike="noStrike" cap="none" normalizeH="0" baseline="0" dirty="0">
                <a:ln>
                  <a:noFill/>
                </a:ln>
                <a:solidFill>
                  <a:schemeClr val="tx1"/>
                </a:solidFill>
                <a:effectLst/>
                <a:latin typeface="Bahnschrift Condensed" panose="020B0502040204020203" pitchFamily="34" charset="0"/>
              </a:rPr>
              <a:t>DEMOGRAPHIC UPDATES</a:t>
            </a:r>
            <a:endParaRPr lang="en-IN" sz="2000" dirty="0">
              <a:latin typeface="Bahnschrift Condensed" panose="020B0502040204020203" pitchFamily="34" charset="0"/>
            </a:endParaRPr>
          </a:p>
        </p:txBody>
      </p:sp>
      <p:sp>
        <p:nvSpPr>
          <p:cNvPr id="56" name="TextBox 55">
            <a:extLst>
              <a:ext uri="{FF2B5EF4-FFF2-40B4-BE49-F238E27FC236}">
                <a16:creationId xmlns:a16="http://schemas.microsoft.com/office/drawing/2014/main" id="{5E64A687-107D-544C-605A-9FAC1E79C350}"/>
              </a:ext>
            </a:extLst>
          </p:cNvPr>
          <p:cNvSpPr txBox="1"/>
          <p:nvPr/>
        </p:nvSpPr>
        <p:spPr>
          <a:xfrm>
            <a:off x="-54383" y="4475389"/>
            <a:ext cx="3387862" cy="1323439"/>
          </a:xfrm>
          <a:prstGeom prst="rect">
            <a:avLst/>
          </a:prstGeom>
          <a:noFill/>
        </p:spPr>
        <p:txBody>
          <a:bodyPr wrap="square">
            <a:spAutoFit/>
          </a:bodyPr>
          <a:lstStyle/>
          <a:p>
            <a:pPr lvl="1" eaLnBrk="0" fontAlgn="base" hangingPunct="0">
              <a:spcBef>
                <a:spcPct val="0"/>
              </a:spcBef>
              <a:spcAft>
                <a:spcPct val="0"/>
              </a:spcAft>
              <a:buFontTx/>
              <a:buChar char="•"/>
            </a:pPr>
            <a:r>
              <a:rPr kumimoji="0" lang="en-US" altLang="en-US" sz="2000" b="0" i="0" u="none" strike="noStrike" cap="none" normalizeH="0" baseline="0" dirty="0">
                <a:ln>
                  <a:noFill/>
                </a:ln>
                <a:solidFill>
                  <a:schemeClr val="tx1"/>
                </a:solidFill>
                <a:effectLst/>
                <a:latin typeface="Bahnschrift Condensed" panose="020B0502040204020203" pitchFamily="34" charset="0"/>
              </a:rPr>
              <a:t>Records address and name changes, acting as the heartbeat of </a:t>
            </a:r>
            <a:r>
              <a:rPr kumimoji="0" lang="en-US" altLang="en-US" sz="2000" b="1" i="0" u="none" strike="noStrike" cap="none" normalizeH="0" baseline="0" dirty="0">
                <a:ln>
                  <a:noFill/>
                </a:ln>
                <a:solidFill>
                  <a:schemeClr val="tx1"/>
                </a:solidFill>
                <a:effectLst/>
                <a:latin typeface="Bahnschrift Condensed" panose="020B0502040204020203" pitchFamily="34" charset="0"/>
              </a:rPr>
              <a:t>"Migration"</a:t>
            </a:r>
            <a:r>
              <a:rPr kumimoji="0" lang="en-US" altLang="en-US" sz="2000" b="0" i="0" u="none" strike="noStrike" cap="none" normalizeH="0" baseline="0" dirty="0">
                <a:ln>
                  <a:noFill/>
                </a:ln>
                <a:solidFill>
                  <a:schemeClr val="tx1"/>
                </a:solidFill>
                <a:effectLst/>
                <a:latin typeface="Bahnschrift Condensed" panose="020B0502040204020203" pitchFamily="34" charset="0"/>
              </a:rPr>
              <a:t> to identify transit hubs.</a:t>
            </a:r>
          </a:p>
        </p:txBody>
      </p:sp>
    </p:spTree>
    <p:extLst>
      <p:ext uri="{BB962C8B-B14F-4D97-AF65-F5344CB8AC3E}">
        <p14:creationId xmlns:p14="http://schemas.microsoft.com/office/powerpoint/2010/main" val="34011699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5B731-8885-F4FF-F2EA-4600F99657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7E785-77EA-B0ED-96C6-D000837F2175}"/>
              </a:ext>
            </a:extLst>
          </p:cNvPr>
          <p:cNvSpPr>
            <a:spLocks noGrp="1"/>
          </p:cNvSpPr>
          <p:nvPr>
            <p:ph type="title"/>
          </p:nvPr>
        </p:nvSpPr>
        <p:spPr>
          <a:xfrm>
            <a:off x="3467100" y="2766219"/>
            <a:ext cx="5257800" cy="1325563"/>
          </a:xfrm>
        </p:spPr>
        <p:txBody>
          <a:bodyPr>
            <a:normAutofit/>
          </a:bodyPr>
          <a:lstStyle/>
          <a:p>
            <a:r>
              <a:rPr lang="en-IN" sz="8000" dirty="0">
                <a:latin typeface="Bahnschrift Condensed" panose="020B0502040204020203" pitchFamily="34" charset="0"/>
              </a:rPr>
              <a:t>METHODOLOGY</a:t>
            </a:r>
          </a:p>
        </p:txBody>
      </p:sp>
    </p:spTree>
    <p:extLst>
      <p:ext uri="{BB962C8B-B14F-4D97-AF65-F5344CB8AC3E}">
        <p14:creationId xmlns:p14="http://schemas.microsoft.com/office/powerpoint/2010/main" val="21514759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BE2C3CE9-5880-8491-AFE7-4C3A596EF7DD}"/>
                  </a:ext>
                </a:extLst>
              </p:cNvPr>
              <p:cNvGraphicFramePr>
                <a:graphicFrameLocks noChangeAspect="1"/>
              </p:cNvGraphicFramePr>
              <p:nvPr>
                <p:extLst>
                  <p:ext uri="{D42A27DB-BD31-4B8C-83A1-F6EECF244321}">
                    <p14:modId xmlns:p14="http://schemas.microsoft.com/office/powerpoint/2010/main" val="3823721394"/>
                  </p:ext>
                </p:extLst>
              </p:nvPr>
            </p:nvGraphicFramePr>
            <p:xfrm>
              <a:off x="6096000" y="-1"/>
              <a:ext cx="6095998" cy="3428999"/>
            </p:xfrm>
            <a:graphic>
              <a:graphicData uri="http://schemas.microsoft.com/office/powerpoint/2016/slidezoom">
                <pslz:sldZm>
                  <pslz:sldZmObj sldId="272" cId="3046478620">
                    <pslz:zmPr id="{342FBFC5-C204-41F1-9C44-D78C9F11161B}" returnToParent="0" transitionDur="1000">
                      <p166:blipFill xmlns:p166="http://schemas.microsoft.com/office/powerpoint/2016/6/main">
                        <a:blip r:embed="rId2"/>
                        <a:stretch>
                          <a:fillRect/>
                        </a:stretch>
                      </p166:blipFill>
                      <p166:spPr xmlns:p166="http://schemas.microsoft.com/office/powerpoint/2016/6/main">
                        <a:xfrm>
                          <a:off x="0" y="0"/>
                          <a:ext cx="6095998" cy="3428999"/>
                        </a:xfrm>
                        <a:prstGeom prst="rect">
                          <a:avLst/>
                        </a:prstGeom>
                        <a:ln w="3175">
                          <a:solidFill>
                            <a:prstClr val="ltGray"/>
                          </a:solidFill>
                        </a:ln>
                      </p166:spPr>
                    </pslz:zmPr>
                  </pslz:sldZmObj>
                </pslz:sldZm>
              </a:graphicData>
            </a:graphic>
          </p:graphicFrame>
        </mc:Choice>
        <mc:Fallback xmlns="">
          <p:pic>
            <p:nvPicPr>
              <p:cNvPr id="7" name="Slide Zoom 6">
                <a:hlinkClick r:id="rId3" action="ppaction://hlinksldjump"/>
                <a:extLst>
                  <a:ext uri="{FF2B5EF4-FFF2-40B4-BE49-F238E27FC236}">
                    <a16:creationId xmlns:a16="http://schemas.microsoft.com/office/drawing/2014/main" id="{BE2C3CE9-5880-8491-AFE7-4C3A596EF7DD}"/>
                  </a:ext>
                </a:extLst>
              </p:cNvPr>
              <p:cNvPicPr>
                <a:picLocks noGrp="1" noRot="1" noChangeAspect="1" noMove="1" noResize="1" noEditPoints="1" noAdjustHandles="1" noChangeArrowheads="1" noChangeShapeType="1"/>
              </p:cNvPicPr>
              <p:nvPr/>
            </p:nvPicPr>
            <p:blipFill>
              <a:blip r:embed="rId4"/>
              <a:stretch>
                <a:fillRect/>
              </a:stretch>
            </p:blipFill>
            <p:spPr>
              <a:xfrm>
                <a:off x="6096000" y="-1"/>
                <a:ext cx="6095998" cy="3428999"/>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A08819D7-4268-9926-D310-57F3961DDC0F}"/>
                  </a:ext>
                </a:extLst>
              </p:cNvPr>
              <p:cNvGraphicFramePr>
                <a:graphicFrameLocks noChangeAspect="1"/>
              </p:cNvGraphicFramePr>
              <p:nvPr>
                <p:extLst>
                  <p:ext uri="{D42A27DB-BD31-4B8C-83A1-F6EECF244321}">
                    <p14:modId xmlns:p14="http://schemas.microsoft.com/office/powerpoint/2010/main" val="2195170391"/>
                  </p:ext>
                </p:extLst>
              </p:nvPr>
            </p:nvGraphicFramePr>
            <p:xfrm>
              <a:off x="0" y="0"/>
              <a:ext cx="6096002" cy="3429000"/>
            </p:xfrm>
            <a:graphic>
              <a:graphicData uri="http://schemas.microsoft.com/office/powerpoint/2016/slidezoom">
                <pslz:sldZm>
                  <pslz:sldZmObj sldId="271" cId="3087037926">
                    <pslz:zmPr id="{6B8924B0-5774-454D-9CC0-DC566AD0925D}" returnToParent="0" transitionDur="1000">
                      <p166:blipFill xmlns:p166="http://schemas.microsoft.com/office/powerpoint/2016/6/main">
                        <a:blip r:embed="rId5"/>
                        <a:stretch>
                          <a:fillRect/>
                        </a:stretch>
                      </p166:blipFill>
                      <p166:spPr xmlns:p166="http://schemas.microsoft.com/office/powerpoint/2016/6/main">
                        <a:xfrm>
                          <a:off x="0" y="0"/>
                          <a:ext cx="6096002" cy="3429000"/>
                        </a:xfrm>
                        <a:prstGeom prst="rect">
                          <a:avLst/>
                        </a:prstGeom>
                        <a:ln w="3175">
                          <a:solidFill>
                            <a:prstClr val="ltGray"/>
                          </a:solidFill>
                        </a:ln>
                      </p166:spPr>
                    </pslz:zmPr>
                  </pslz:sldZmObj>
                </pslz:sldZm>
              </a:graphicData>
            </a:graphic>
          </p:graphicFrame>
        </mc:Choice>
        <mc:Fallback xmlns="">
          <p:pic>
            <p:nvPicPr>
              <p:cNvPr id="5" name="Slide Zoom 4">
                <a:hlinkClick r:id="rId6" action="ppaction://hlinksldjump"/>
                <a:extLst>
                  <a:ext uri="{FF2B5EF4-FFF2-40B4-BE49-F238E27FC236}">
                    <a16:creationId xmlns:a16="http://schemas.microsoft.com/office/drawing/2014/main" id="{A08819D7-4268-9926-D310-57F3961DDC0F}"/>
                  </a:ext>
                </a:extLst>
              </p:cNvPr>
              <p:cNvPicPr>
                <a:picLocks noGrp="1" noRot="1" noChangeAspect="1" noMove="1" noResize="1" noEditPoints="1" noAdjustHandles="1" noChangeArrowheads="1" noChangeShapeType="1"/>
              </p:cNvPicPr>
              <p:nvPr/>
            </p:nvPicPr>
            <p:blipFill>
              <a:blip r:embed="rId7"/>
              <a:stretch>
                <a:fillRect/>
              </a:stretch>
            </p:blipFill>
            <p:spPr>
              <a:xfrm>
                <a:off x="0" y="0"/>
                <a:ext cx="6096002" cy="3429000"/>
              </a:xfrm>
              <a:prstGeom prst="rect">
                <a:avLst/>
              </a:prstGeom>
              <a:ln w="3175">
                <a:solidFill>
                  <a:prstClr val="ltGray"/>
                </a:solidFill>
              </a:ln>
            </p:spPr>
          </p:pic>
        </mc:Fallback>
      </mc:AlternateContent>
      <mc:AlternateContent xmlns:mc="http://schemas.openxmlformats.org/markup-compatibility/2006">
        <mc:Choice xmlns:pslz="http://schemas.microsoft.com/office/powerpoint/2016/slidezoom" Requires="pslz">
          <p:graphicFrame>
            <p:nvGraphicFramePr>
              <p:cNvPr id="3" name="Slide Zoom 2">
                <a:extLst>
                  <a:ext uri="{FF2B5EF4-FFF2-40B4-BE49-F238E27FC236}">
                    <a16:creationId xmlns:a16="http://schemas.microsoft.com/office/drawing/2014/main" id="{ED99A6B1-847F-EA13-AF06-0A5CE4EC4A59}"/>
                  </a:ext>
                </a:extLst>
              </p:cNvPr>
              <p:cNvGraphicFramePr>
                <a:graphicFrameLocks noChangeAspect="1"/>
              </p:cNvGraphicFramePr>
              <p:nvPr>
                <p:extLst>
                  <p:ext uri="{D42A27DB-BD31-4B8C-83A1-F6EECF244321}">
                    <p14:modId xmlns:p14="http://schemas.microsoft.com/office/powerpoint/2010/main" val="604510184"/>
                  </p:ext>
                </p:extLst>
              </p:nvPr>
            </p:nvGraphicFramePr>
            <p:xfrm>
              <a:off x="2743199" y="3428998"/>
              <a:ext cx="6095998" cy="3428999"/>
            </p:xfrm>
            <a:graphic>
              <a:graphicData uri="http://schemas.microsoft.com/office/powerpoint/2016/slidezoom">
                <pslz:sldZm>
                  <pslz:sldZmObj sldId="273" cId="1552161924">
                    <pslz:zmPr id="{1C39ABB5-F749-4A54-9927-8685A23F2E09}" returnToParent="0" transitionDur="1000">
                      <p166:blipFill xmlns:p166="http://schemas.microsoft.com/office/powerpoint/2016/6/main">
                        <a:blip r:embed="rId8"/>
                        <a:stretch>
                          <a:fillRect/>
                        </a:stretch>
                      </p166:blipFill>
                      <p166:spPr xmlns:p166="http://schemas.microsoft.com/office/powerpoint/2016/6/main">
                        <a:xfrm>
                          <a:off x="0" y="0"/>
                          <a:ext cx="6095998" cy="3428999"/>
                        </a:xfrm>
                        <a:prstGeom prst="rect">
                          <a:avLst/>
                        </a:prstGeom>
                        <a:ln w="3175">
                          <a:solidFill>
                            <a:prstClr val="ltGray"/>
                          </a:solidFill>
                        </a:ln>
                      </p166:spPr>
                    </pslz:zmPr>
                  </pslz:sldZmObj>
                </pslz:sldZm>
              </a:graphicData>
            </a:graphic>
          </p:graphicFrame>
        </mc:Choice>
        <mc:Fallback>
          <p:pic>
            <p:nvPicPr>
              <p:cNvPr id="3" name="Slide Zoom 2">
                <a:hlinkClick r:id="rId9" action="ppaction://hlinksldjump"/>
                <a:extLst>
                  <a:ext uri="{FF2B5EF4-FFF2-40B4-BE49-F238E27FC236}">
                    <a16:creationId xmlns:a16="http://schemas.microsoft.com/office/drawing/2014/main" id="{ED99A6B1-847F-EA13-AF06-0A5CE4EC4A59}"/>
                  </a:ext>
                </a:extLst>
              </p:cNvPr>
              <p:cNvPicPr>
                <a:picLocks noGrp="1" noRot="1" noChangeAspect="1" noMove="1" noResize="1" noEditPoints="1" noAdjustHandles="1" noChangeArrowheads="1" noChangeShapeType="1"/>
              </p:cNvPicPr>
              <p:nvPr/>
            </p:nvPicPr>
            <p:blipFill>
              <a:blip r:embed="rId8"/>
              <a:stretch>
                <a:fillRect/>
              </a:stretch>
            </p:blipFill>
            <p:spPr>
              <a:xfrm>
                <a:off x="2743199" y="3428998"/>
                <a:ext cx="6095998" cy="3428999"/>
              </a:xfrm>
              <a:prstGeom prst="rect">
                <a:avLst/>
              </a:prstGeom>
              <a:ln w="3175">
                <a:solidFill>
                  <a:prstClr val="ltGray"/>
                </a:solidFill>
              </a:ln>
            </p:spPr>
          </p:pic>
        </mc:Fallback>
      </mc:AlternateContent>
    </p:spTree>
    <p:extLst>
      <p:ext uri="{BB962C8B-B14F-4D97-AF65-F5344CB8AC3E}">
        <p14:creationId xmlns:p14="http://schemas.microsoft.com/office/powerpoint/2010/main" val="3610539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17DD6AA-C1F5-F65E-7EA2-E69FC4B5A8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7280" y="0"/>
            <a:ext cx="6589229" cy="6858000"/>
          </a:xfrm>
          <a:prstGeom prst="rect">
            <a:avLst/>
          </a:prstGeom>
        </p:spPr>
      </p:pic>
      <p:sp>
        <p:nvSpPr>
          <p:cNvPr id="2" name="Rectangle 1">
            <a:extLst>
              <a:ext uri="{FF2B5EF4-FFF2-40B4-BE49-F238E27FC236}">
                <a16:creationId xmlns:a16="http://schemas.microsoft.com/office/drawing/2014/main" id="{F1717331-5840-D512-7595-EDDDCACB7953}"/>
              </a:ext>
            </a:extLst>
          </p:cNvPr>
          <p:cNvSpPr/>
          <p:nvPr/>
        </p:nvSpPr>
        <p:spPr>
          <a:xfrm>
            <a:off x="7907867" y="6206068"/>
            <a:ext cx="1048642" cy="465666"/>
          </a:xfrm>
          <a:prstGeom prst="rect">
            <a:avLst/>
          </a:prstGeom>
          <a:solidFill>
            <a:srgbClr val="1717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870379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A22FC60-5624-D046-16B7-A1C8974E73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9226" y="0"/>
            <a:ext cx="5933547" cy="6858000"/>
          </a:xfrm>
          <a:prstGeom prst="rect">
            <a:avLst/>
          </a:prstGeom>
          <a:solidFill>
            <a:srgbClr val="171717"/>
          </a:solidFill>
        </p:spPr>
      </p:pic>
      <p:sp>
        <p:nvSpPr>
          <p:cNvPr id="2" name="Rectangle 1">
            <a:extLst>
              <a:ext uri="{FF2B5EF4-FFF2-40B4-BE49-F238E27FC236}">
                <a16:creationId xmlns:a16="http://schemas.microsoft.com/office/drawing/2014/main" id="{02110F8E-8BB2-A6E8-5EA6-3382D618D2BB}"/>
              </a:ext>
            </a:extLst>
          </p:cNvPr>
          <p:cNvSpPr/>
          <p:nvPr/>
        </p:nvSpPr>
        <p:spPr>
          <a:xfrm>
            <a:off x="8246533" y="6307667"/>
            <a:ext cx="922866" cy="474133"/>
          </a:xfrm>
          <a:prstGeom prst="rect">
            <a:avLst/>
          </a:prstGeom>
          <a:solidFill>
            <a:srgbClr val="1717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464786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a:extLst>
            <a:ext uri="{FF2B5EF4-FFF2-40B4-BE49-F238E27FC236}">
              <a16:creationId xmlns:a16="http://schemas.microsoft.com/office/drawing/2014/main" id="{A794DC62-360F-D0CC-2BA6-E97CA2BEEEB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04F08CD-1FF7-79E4-63B1-53BC72869E44}"/>
              </a:ext>
            </a:extLst>
          </p:cNvPr>
          <p:cNvPicPr>
            <a:picLocks noChangeAspect="1"/>
          </p:cNvPicPr>
          <p:nvPr/>
        </p:nvPicPr>
        <p:blipFill>
          <a:blip r:embed="rId2"/>
          <a:stretch>
            <a:fillRect/>
          </a:stretch>
        </p:blipFill>
        <p:spPr>
          <a:xfrm>
            <a:off x="2391380" y="0"/>
            <a:ext cx="7856279" cy="6858000"/>
          </a:xfrm>
          <a:prstGeom prst="rect">
            <a:avLst/>
          </a:prstGeom>
        </p:spPr>
      </p:pic>
      <p:sp>
        <p:nvSpPr>
          <p:cNvPr id="2" name="Rectangle 1">
            <a:extLst>
              <a:ext uri="{FF2B5EF4-FFF2-40B4-BE49-F238E27FC236}">
                <a16:creationId xmlns:a16="http://schemas.microsoft.com/office/drawing/2014/main" id="{1F5C8BA1-6394-CDEF-34B4-0EF02EE76060}"/>
              </a:ext>
            </a:extLst>
          </p:cNvPr>
          <p:cNvSpPr/>
          <p:nvPr/>
        </p:nvSpPr>
        <p:spPr>
          <a:xfrm>
            <a:off x="9406467" y="6172200"/>
            <a:ext cx="922866" cy="474133"/>
          </a:xfrm>
          <a:prstGeom prst="rect">
            <a:avLst/>
          </a:prstGeom>
          <a:solidFill>
            <a:srgbClr val="17171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521619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a:extLst>
            <a:ext uri="{FF2B5EF4-FFF2-40B4-BE49-F238E27FC236}">
              <a16:creationId xmlns:a16="http://schemas.microsoft.com/office/drawing/2014/main" id="{7DFCA6E4-9FA0-54F4-6DD6-65248FF4B0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886A3A-0D94-4B03-FAA8-52E0D3011FF8}"/>
              </a:ext>
            </a:extLst>
          </p:cNvPr>
          <p:cNvSpPr>
            <a:spLocks noGrp="1"/>
          </p:cNvSpPr>
          <p:nvPr>
            <p:ph type="title"/>
          </p:nvPr>
        </p:nvSpPr>
        <p:spPr>
          <a:xfrm>
            <a:off x="2771167" y="2766219"/>
            <a:ext cx="6649666" cy="1325563"/>
          </a:xfrm>
        </p:spPr>
        <p:txBody>
          <a:bodyPr>
            <a:normAutofit fontScale="90000"/>
          </a:bodyPr>
          <a:lstStyle/>
          <a:p>
            <a:r>
              <a:rPr lang="en-IN" sz="8000" dirty="0">
                <a:latin typeface="Bahnschrift Condensed" panose="020B0502040204020203" pitchFamily="34" charset="0"/>
              </a:rPr>
              <a:t>FEATURE EXTRACTION</a:t>
            </a:r>
          </a:p>
        </p:txBody>
      </p:sp>
    </p:spTree>
    <p:extLst>
      <p:ext uri="{BB962C8B-B14F-4D97-AF65-F5344CB8AC3E}">
        <p14:creationId xmlns:p14="http://schemas.microsoft.com/office/powerpoint/2010/main" val="6454288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CADFBD4-0B27-862B-8414-111A956F9E7C}"/>
              </a:ext>
            </a:extLst>
          </p:cNvPr>
          <p:cNvPicPr>
            <a:picLocks noChangeAspect="1"/>
          </p:cNvPicPr>
          <p:nvPr/>
        </p:nvPicPr>
        <p:blipFill>
          <a:blip r:embed="rId2"/>
          <a:stretch>
            <a:fillRect/>
          </a:stretch>
        </p:blipFill>
        <p:spPr>
          <a:xfrm>
            <a:off x="877613" y="979385"/>
            <a:ext cx="6396383" cy="1254497"/>
          </a:xfrm>
          <a:prstGeom prst="rect">
            <a:avLst/>
          </a:prstGeom>
        </p:spPr>
      </p:pic>
      <p:pic>
        <p:nvPicPr>
          <p:cNvPr id="11" name="Picture 10">
            <a:extLst>
              <a:ext uri="{FF2B5EF4-FFF2-40B4-BE49-F238E27FC236}">
                <a16:creationId xmlns:a16="http://schemas.microsoft.com/office/drawing/2014/main" id="{7E9D581B-1766-24D0-CB88-36F605E89898}"/>
              </a:ext>
            </a:extLst>
          </p:cNvPr>
          <p:cNvPicPr>
            <a:picLocks noChangeAspect="1"/>
          </p:cNvPicPr>
          <p:nvPr/>
        </p:nvPicPr>
        <p:blipFill>
          <a:blip r:embed="rId3"/>
          <a:stretch>
            <a:fillRect/>
          </a:stretch>
        </p:blipFill>
        <p:spPr>
          <a:xfrm>
            <a:off x="1050332" y="3225798"/>
            <a:ext cx="10167029" cy="733527"/>
          </a:xfrm>
          <a:prstGeom prst="rect">
            <a:avLst/>
          </a:prstGeom>
        </p:spPr>
      </p:pic>
      <p:pic>
        <p:nvPicPr>
          <p:cNvPr id="13" name="Picture 12">
            <a:extLst>
              <a:ext uri="{FF2B5EF4-FFF2-40B4-BE49-F238E27FC236}">
                <a16:creationId xmlns:a16="http://schemas.microsoft.com/office/drawing/2014/main" id="{24134EC0-D11D-AF57-A40F-4114B6FA4114}"/>
              </a:ext>
            </a:extLst>
          </p:cNvPr>
          <p:cNvPicPr>
            <a:picLocks noChangeAspect="1"/>
          </p:cNvPicPr>
          <p:nvPr/>
        </p:nvPicPr>
        <p:blipFill>
          <a:blip r:embed="rId4"/>
          <a:stretch>
            <a:fillRect/>
          </a:stretch>
        </p:blipFill>
        <p:spPr>
          <a:xfrm>
            <a:off x="877613" y="4951241"/>
            <a:ext cx="6275027" cy="1404584"/>
          </a:xfrm>
          <a:prstGeom prst="rect">
            <a:avLst/>
          </a:prstGeom>
        </p:spPr>
      </p:pic>
    </p:spTree>
    <p:extLst>
      <p:ext uri="{BB962C8B-B14F-4D97-AF65-F5344CB8AC3E}">
        <p14:creationId xmlns:p14="http://schemas.microsoft.com/office/powerpoint/2010/main" val="35753515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05C4E-B535-3667-FBB7-4573E8591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A201ED-73D9-D24A-AB0C-40972AB35BDF}"/>
              </a:ext>
            </a:extLst>
          </p:cNvPr>
          <p:cNvSpPr>
            <a:spLocks noGrp="1"/>
          </p:cNvSpPr>
          <p:nvPr>
            <p:ph type="title"/>
          </p:nvPr>
        </p:nvSpPr>
        <p:spPr>
          <a:xfrm>
            <a:off x="3270622" y="2766219"/>
            <a:ext cx="5650757" cy="1325563"/>
          </a:xfrm>
        </p:spPr>
        <p:txBody>
          <a:bodyPr>
            <a:normAutofit fontScale="90000"/>
          </a:bodyPr>
          <a:lstStyle/>
          <a:p>
            <a:pPr algn="ctr"/>
            <a:r>
              <a:rPr lang="en-IN" sz="8000" dirty="0">
                <a:latin typeface="Bahnschrift Condensed" panose="020B0502040204020203" pitchFamily="34" charset="0"/>
              </a:rPr>
              <a:t>PARETO ANALYSIS</a:t>
            </a:r>
            <a:br>
              <a:rPr lang="en-IN" sz="8000" dirty="0">
                <a:latin typeface="Bahnschrift Condensed" panose="020B0502040204020203" pitchFamily="34" charset="0"/>
              </a:rPr>
            </a:br>
            <a:r>
              <a:rPr lang="en-IN" sz="8000" dirty="0">
                <a:latin typeface="Bahnschrift Condensed" panose="020B0502040204020203" pitchFamily="34" charset="0"/>
              </a:rPr>
              <a:t>(80/20 RULE)</a:t>
            </a:r>
          </a:p>
        </p:txBody>
      </p:sp>
    </p:spTree>
    <p:extLst>
      <p:ext uri="{BB962C8B-B14F-4D97-AF65-F5344CB8AC3E}">
        <p14:creationId xmlns:p14="http://schemas.microsoft.com/office/powerpoint/2010/main" val="3914431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6DE41DC-5E0A-4E82-2F66-83562A1D81F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71324" y="1547277"/>
            <a:ext cx="8580657" cy="3763446"/>
          </a:xfrm>
          <a:prstGeom prst="rect">
            <a:avLst/>
          </a:prstGeom>
        </p:spPr>
      </p:pic>
      <p:sp>
        <p:nvSpPr>
          <p:cNvPr id="7" name="TextBox 6">
            <a:extLst>
              <a:ext uri="{FF2B5EF4-FFF2-40B4-BE49-F238E27FC236}">
                <a16:creationId xmlns:a16="http://schemas.microsoft.com/office/drawing/2014/main" id="{AED968A1-3F83-5099-D0C4-2237297B81C1}"/>
              </a:ext>
            </a:extLst>
          </p:cNvPr>
          <p:cNvSpPr txBox="1"/>
          <p:nvPr/>
        </p:nvSpPr>
        <p:spPr>
          <a:xfrm>
            <a:off x="531455" y="1423927"/>
            <a:ext cx="2503575" cy="4200704"/>
          </a:xfrm>
          <a:prstGeom prst="roundRect">
            <a:avLst/>
          </a:prstGeom>
          <a:solidFill>
            <a:srgbClr val="2C3E50"/>
          </a:solidFill>
        </p:spPr>
        <p:txBody>
          <a:bodyPr wrap="square">
            <a:spAutoFit/>
          </a:bodyPr>
          <a:lstStyle/>
          <a:p>
            <a:r>
              <a:rPr lang="en-IN" dirty="0">
                <a:latin typeface="Bahnschrift Condensed" panose="020B0502040204020203" pitchFamily="34" charset="0"/>
              </a:rPr>
              <a:t>From our analysis, we found a huge operational skew wherein the top 20% of districts drive 59.6% of the entire nation's enrolment volume. Essentially, the operational stability of only a few high-volume drivers such as Thane, Sitamarhi, and Murshidabad ensures operational stability for a majority of the national ecosystem.</a:t>
            </a:r>
          </a:p>
        </p:txBody>
      </p:sp>
    </p:spTree>
    <p:extLst>
      <p:ext uri="{BB962C8B-B14F-4D97-AF65-F5344CB8AC3E}">
        <p14:creationId xmlns:p14="http://schemas.microsoft.com/office/powerpoint/2010/main" val="35754541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879E8-03F9-F469-19B2-E30E1076C3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420AEC-F396-2C38-DE79-B4CBE89854E1}"/>
              </a:ext>
            </a:extLst>
          </p:cNvPr>
          <p:cNvSpPr>
            <a:spLocks noGrp="1"/>
          </p:cNvSpPr>
          <p:nvPr>
            <p:ph type="title"/>
          </p:nvPr>
        </p:nvSpPr>
        <p:spPr>
          <a:xfrm>
            <a:off x="2121643" y="2766219"/>
            <a:ext cx="7948714" cy="1325563"/>
          </a:xfrm>
        </p:spPr>
        <p:txBody>
          <a:bodyPr>
            <a:noAutofit/>
          </a:bodyPr>
          <a:lstStyle/>
          <a:p>
            <a:r>
              <a:rPr lang="en-US" sz="8000" dirty="0">
                <a:latin typeface="Bahnschrift Condensed" panose="020B0502040204020203" pitchFamily="34" charset="0"/>
              </a:rPr>
              <a:t>MIGRATION DYNAMICS (THE ’CHURN’ MAP)</a:t>
            </a:r>
            <a:endParaRPr lang="en-IN" sz="8000" dirty="0">
              <a:latin typeface="Bahnschrift Condensed" panose="020B0502040204020203" pitchFamily="34" charset="0"/>
            </a:endParaRPr>
          </a:p>
        </p:txBody>
      </p:sp>
    </p:spTree>
    <p:extLst>
      <p:ext uri="{BB962C8B-B14F-4D97-AF65-F5344CB8AC3E}">
        <p14:creationId xmlns:p14="http://schemas.microsoft.com/office/powerpoint/2010/main" val="22745118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19F3A74-741A-FD4C-CC44-A67A6E013603}"/>
              </a:ext>
            </a:extLst>
          </p:cNvPr>
          <p:cNvSpPr txBox="1"/>
          <p:nvPr/>
        </p:nvSpPr>
        <p:spPr>
          <a:xfrm>
            <a:off x="92287" y="222812"/>
            <a:ext cx="5478780" cy="1021556"/>
          </a:xfrm>
          <a:prstGeom prst="roundRect">
            <a:avLst/>
          </a:prstGeom>
          <a:solidFill>
            <a:srgbClr val="820000"/>
          </a:solidFill>
        </p:spPr>
        <p:txBody>
          <a:bodyPr wrap="square">
            <a:spAutoFit/>
          </a:bodyPr>
          <a:lstStyle/>
          <a:p>
            <a:r>
              <a:rPr lang="en-IN" dirty="0">
                <a:latin typeface="Bahnschrift Condensed" panose="020B0502040204020203" pitchFamily="34" charset="0"/>
              </a:rPr>
              <a:t>Our analysis was able to successfully differentiate between Transit Hubs and Settled Zones by determining a Migration Intensity Score for every district. </a:t>
            </a:r>
          </a:p>
        </p:txBody>
      </p:sp>
      <p:sp>
        <p:nvSpPr>
          <p:cNvPr id="4" name="TextBox 3">
            <a:extLst>
              <a:ext uri="{FF2B5EF4-FFF2-40B4-BE49-F238E27FC236}">
                <a16:creationId xmlns:a16="http://schemas.microsoft.com/office/drawing/2014/main" id="{E879D5D2-F946-FDDB-BF46-456C8F9DE989}"/>
              </a:ext>
            </a:extLst>
          </p:cNvPr>
          <p:cNvSpPr txBox="1"/>
          <p:nvPr/>
        </p:nvSpPr>
        <p:spPr>
          <a:xfrm>
            <a:off x="5756487" y="222812"/>
            <a:ext cx="5550116" cy="1328023"/>
          </a:xfrm>
          <a:prstGeom prst="roundRect">
            <a:avLst/>
          </a:prstGeom>
          <a:solidFill>
            <a:srgbClr val="820000"/>
          </a:solidFill>
        </p:spPr>
        <p:txBody>
          <a:bodyPr wrap="square">
            <a:spAutoFit/>
          </a:bodyPr>
          <a:lstStyle/>
          <a:p>
            <a:pPr marL="285750" indent="-285750">
              <a:buFont typeface="Arial" panose="020B0604020202020204" pitchFamily="34" charset="0"/>
              <a:buChar char="•"/>
            </a:pPr>
            <a:r>
              <a:rPr lang="en-IN" dirty="0">
                <a:latin typeface="Bahnschrift Condensed" panose="020B0502040204020203" pitchFamily="34" charset="0"/>
              </a:rPr>
              <a:t> A high "Migration Intensity Score" revealed Transit Hubs like North East Delhi (Score: 168.40). </a:t>
            </a:r>
          </a:p>
          <a:p>
            <a:pPr marL="285750" indent="-285750">
              <a:buFont typeface="Arial" panose="020B0604020202020204" pitchFamily="34" charset="0"/>
              <a:buChar char="•"/>
            </a:pPr>
            <a:r>
              <a:rPr lang="en-IN" dirty="0">
                <a:latin typeface="Bahnschrift Condensed" panose="020B0502040204020203" pitchFamily="34" charset="0"/>
              </a:rPr>
              <a:t>Settled Zones like Bishnupur (Score: 88.40) are revealed by a low Migration Intensity Score.</a:t>
            </a:r>
          </a:p>
        </p:txBody>
      </p:sp>
      <p:sp>
        <p:nvSpPr>
          <p:cNvPr id="8" name="TextBox 7">
            <a:extLst>
              <a:ext uri="{FF2B5EF4-FFF2-40B4-BE49-F238E27FC236}">
                <a16:creationId xmlns:a16="http://schemas.microsoft.com/office/drawing/2014/main" id="{D1F8E324-BB71-47E1-9A80-95D3B59868A9}"/>
              </a:ext>
            </a:extLst>
          </p:cNvPr>
          <p:cNvSpPr txBox="1"/>
          <p:nvPr/>
        </p:nvSpPr>
        <p:spPr>
          <a:xfrm>
            <a:off x="92287" y="1452242"/>
            <a:ext cx="5478780" cy="1328023"/>
          </a:xfrm>
          <a:prstGeom prst="roundRect">
            <a:avLst/>
          </a:prstGeom>
          <a:solidFill>
            <a:srgbClr val="820000"/>
          </a:solidFill>
        </p:spPr>
        <p:txBody>
          <a:bodyPr wrap="square">
            <a:spAutoFit/>
          </a:bodyPr>
          <a:lstStyle/>
          <a:p>
            <a:r>
              <a:rPr lang="en-IN" dirty="0">
                <a:latin typeface="Bahnschrift Condensed" panose="020B0502040204020203" pitchFamily="34" charset="0"/>
              </a:rPr>
              <a:t>This differentiation is vital as well because Transit Hubs require automated Self-service kiosks to decongest queues, whereas Settled Zones require Full Enrolment camps to capture new population growth</a:t>
            </a:r>
          </a:p>
        </p:txBody>
      </p:sp>
      <p:pic>
        <p:nvPicPr>
          <p:cNvPr id="9" name="Picture 8">
            <a:extLst>
              <a:ext uri="{FF2B5EF4-FFF2-40B4-BE49-F238E27FC236}">
                <a16:creationId xmlns:a16="http://schemas.microsoft.com/office/drawing/2014/main" id="{3A7851B2-3822-7A0C-F260-8B5462980D6F}"/>
              </a:ext>
            </a:extLst>
          </p:cNvPr>
          <p:cNvPicPr>
            <a:picLocks noChangeAspect="1"/>
          </p:cNvPicPr>
          <p:nvPr/>
        </p:nvPicPr>
        <p:blipFill>
          <a:blip r:embed="rId2"/>
          <a:stretch>
            <a:fillRect/>
          </a:stretch>
        </p:blipFill>
        <p:spPr>
          <a:xfrm>
            <a:off x="1781087" y="2988139"/>
            <a:ext cx="7421662" cy="3467265"/>
          </a:xfrm>
          <a:prstGeom prst="rect">
            <a:avLst/>
          </a:prstGeom>
        </p:spPr>
      </p:pic>
    </p:spTree>
    <p:extLst>
      <p:ext uri="{BB962C8B-B14F-4D97-AF65-F5344CB8AC3E}">
        <p14:creationId xmlns:p14="http://schemas.microsoft.com/office/powerpoint/2010/main" val="29500515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0F053-B585-AD2D-34D6-5E40BF2F7B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66A03E-AECF-798B-2E96-F51E10129327}"/>
              </a:ext>
            </a:extLst>
          </p:cNvPr>
          <p:cNvSpPr>
            <a:spLocks noGrp="1"/>
          </p:cNvSpPr>
          <p:nvPr>
            <p:ph type="title"/>
          </p:nvPr>
        </p:nvSpPr>
        <p:spPr>
          <a:xfrm>
            <a:off x="2121643" y="2766219"/>
            <a:ext cx="7948714" cy="1325563"/>
          </a:xfrm>
        </p:spPr>
        <p:txBody>
          <a:bodyPr>
            <a:normAutofit fontScale="90000"/>
          </a:bodyPr>
          <a:lstStyle/>
          <a:p>
            <a:r>
              <a:rPr lang="en-IN" sz="8000" dirty="0">
                <a:latin typeface="Bahnschrift Condensed" panose="020B0502040204020203" pitchFamily="34" charset="0"/>
              </a:rPr>
              <a:t>OPERATIONAL EFFICIENCY GAP</a:t>
            </a:r>
          </a:p>
        </p:txBody>
      </p:sp>
    </p:spTree>
    <p:extLst>
      <p:ext uri="{BB962C8B-B14F-4D97-AF65-F5344CB8AC3E}">
        <p14:creationId xmlns:p14="http://schemas.microsoft.com/office/powerpoint/2010/main" val="5662326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25CDCA7-A5F5-26F4-F72C-6F2BD1D4CF9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773505" y="1797317"/>
            <a:ext cx="7418495" cy="3263365"/>
          </a:xfrm>
          <a:prstGeom prst="rect">
            <a:avLst/>
          </a:prstGeom>
        </p:spPr>
      </p:pic>
      <p:sp>
        <p:nvSpPr>
          <p:cNvPr id="7" name="TextBox 6">
            <a:extLst>
              <a:ext uri="{FF2B5EF4-FFF2-40B4-BE49-F238E27FC236}">
                <a16:creationId xmlns:a16="http://schemas.microsoft.com/office/drawing/2014/main" id="{16407E3E-0713-BF50-0933-420A784972DE}"/>
              </a:ext>
            </a:extLst>
          </p:cNvPr>
          <p:cNvSpPr txBox="1"/>
          <p:nvPr/>
        </p:nvSpPr>
        <p:spPr>
          <a:xfrm>
            <a:off x="419911" y="783551"/>
            <a:ext cx="4244340" cy="1634490"/>
          </a:xfrm>
          <a:prstGeom prst="roundRect">
            <a:avLst/>
          </a:prstGeom>
          <a:solidFill>
            <a:srgbClr val="26818E"/>
          </a:solidFill>
        </p:spPr>
        <p:txBody>
          <a:bodyPr wrap="square">
            <a:spAutoFit/>
          </a:bodyPr>
          <a:lstStyle/>
          <a:p>
            <a:r>
              <a:rPr lang="en-IN" dirty="0">
                <a:latin typeface="Bahnschrift Condensed" panose="020B0502040204020203" pitchFamily="34" charset="0"/>
              </a:rPr>
              <a:t>The prevailing reporting model encourages a questionable high volume by treating labour-intensive fresh enrolments as equivalent to fast address updates. </a:t>
            </a:r>
          </a:p>
          <a:p>
            <a:endParaRPr lang="en-IN" dirty="0">
              <a:latin typeface="Bahnschrift Condensed" panose="020B0502040204020203" pitchFamily="34" charset="0"/>
            </a:endParaRPr>
          </a:p>
        </p:txBody>
      </p:sp>
      <p:sp>
        <p:nvSpPr>
          <p:cNvPr id="4" name="TextBox 3">
            <a:extLst>
              <a:ext uri="{FF2B5EF4-FFF2-40B4-BE49-F238E27FC236}">
                <a16:creationId xmlns:a16="http://schemas.microsoft.com/office/drawing/2014/main" id="{DCFCFFB6-C1A0-BC55-728A-460DDF01A5E3}"/>
              </a:ext>
            </a:extLst>
          </p:cNvPr>
          <p:cNvSpPr txBox="1"/>
          <p:nvPr/>
        </p:nvSpPr>
        <p:spPr>
          <a:xfrm>
            <a:off x="419911" y="3013899"/>
            <a:ext cx="4244340" cy="1634490"/>
          </a:xfrm>
          <a:prstGeom prst="roundRect">
            <a:avLst/>
          </a:prstGeom>
          <a:solidFill>
            <a:srgbClr val="26818E"/>
          </a:solidFill>
        </p:spPr>
        <p:txBody>
          <a:bodyPr wrap="square">
            <a:spAutoFit/>
          </a:bodyPr>
          <a:lstStyle/>
          <a:p>
            <a:pPr marL="285750" indent="-285750">
              <a:buFont typeface="Arial" panose="020B0604020202020204" pitchFamily="34" charset="0"/>
              <a:buChar char="•"/>
            </a:pPr>
            <a:r>
              <a:rPr lang="en-IN" dirty="0">
                <a:latin typeface="Bahnschrift Condensed" panose="020B0502040204020203" pitchFamily="34" charset="0"/>
              </a:rPr>
              <a:t>Utilizing our "Weighted Effort" score, with a 3.0 level of difficulty weight used for fresh enrolments as opposed to merely 1.0 weight utilized in demographic updates, we discovered an efficiency gap.</a:t>
            </a:r>
          </a:p>
        </p:txBody>
      </p:sp>
      <p:sp>
        <p:nvSpPr>
          <p:cNvPr id="8" name="TextBox 7">
            <a:extLst>
              <a:ext uri="{FF2B5EF4-FFF2-40B4-BE49-F238E27FC236}">
                <a16:creationId xmlns:a16="http://schemas.microsoft.com/office/drawing/2014/main" id="{A991B71E-0570-2635-43DA-636A9711C8A3}"/>
              </a:ext>
            </a:extLst>
          </p:cNvPr>
          <p:cNvSpPr txBox="1"/>
          <p:nvPr/>
        </p:nvSpPr>
        <p:spPr>
          <a:xfrm>
            <a:off x="458778" y="5379714"/>
            <a:ext cx="4166605" cy="1021556"/>
          </a:xfrm>
          <a:prstGeom prst="roundRect">
            <a:avLst/>
          </a:prstGeom>
          <a:solidFill>
            <a:srgbClr val="26818E"/>
          </a:solidFill>
        </p:spPr>
        <p:txBody>
          <a:bodyPr wrap="square">
            <a:spAutoFit/>
          </a:bodyPr>
          <a:lstStyle/>
          <a:p>
            <a:pPr marL="285750" indent="-285750">
              <a:buFont typeface="Arial" panose="020B0604020202020204" pitchFamily="34" charset="0"/>
              <a:buChar char="•"/>
            </a:pPr>
            <a:r>
              <a:rPr lang="en-IN" dirty="0">
                <a:latin typeface="Bahnschrift Condensed" panose="020B0502040204020203" pitchFamily="34" charset="0"/>
              </a:rPr>
              <a:t> A number of districts that may look high volume on paper, in fact, work as low-intensity update operations.</a:t>
            </a:r>
          </a:p>
        </p:txBody>
      </p:sp>
    </p:spTree>
    <p:extLst>
      <p:ext uri="{BB962C8B-B14F-4D97-AF65-F5344CB8AC3E}">
        <p14:creationId xmlns:p14="http://schemas.microsoft.com/office/powerpoint/2010/main" val="2836984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DC0E6-620E-55BD-3481-0E4F76FFF0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9A22DE-BC8C-2891-FBCA-A2F61B9CDCA8}"/>
              </a:ext>
            </a:extLst>
          </p:cNvPr>
          <p:cNvSpPr>
            <a:spLocks noGrp="1"/>
          </p:cNvSpPr>
          <p:nvPr>
            <p:ph type="title"/>
          </p:nvPr>
        </p:nvSpPr>
        <p:spPr>
          <a:xfrm>
            <a:off x="2121643" y="2766219"/>
            <a:ext cx="7948714" cy="1325563"/>
          </a:xfrm>
        </p:spPr>
        <p:txBody>
          <a:bodyPr>
            <a:normAutofit fontScale="90000"/>
          </a:bodyPr>
          <a:lstStyle/>
          <a:p>
            <a:r>
              <a:rPr lang="en-US" sz="8000" dirty="0">
                <a:latin typeface="Bahnschrift Condensed" panose="020B0502040204020203" pitchFamily="34" charset="0"/>
              </a:rPr>
              <a:t>STRATEGIC STATE ARCHETYPES: DIVERGENT OPERATIONAL BEHAVIORS</a:t>
            </a:r>
            <a:endParaRPr lang="en-IN" sz="8000" dirty="0">
              <a:latin typeface="Bahnschrift Condensed" panose="020B0502040204020203" pitchFamily="34" charset="0"/>
            </a:endParaRPr>
          </a:p>
        </p:txBody>
      </p:sp>
    </p:spTree>
    <p:extLst>
      <p:ext uri="{BB962C8B-B14F-4D97-AF65-F5344CB8AC3E}">
        <p14:creationId xmlns:p14="http://schemas.microsoft.com/office/powerpoint/2010/main" val="35147292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CDDBD5-F584-C425-5102-A8913C1964BC}"/>
              </a:ext>
            </a:extLst>
          </p:cNvPr>
          <p:cNvSpPr>
            <a:spLocks noGrp="1"/>
          </p:cNvSpPr>
          <p:nvPr>
            <p:ph idx="1"/>
          </p:nvPr>
        </p:nvSpPr>
        <p:spPr>
          <a:xfrm>
            <a:off x="163263" y="177530"/>
            <a:ext cx="6483070" cy="2816158"/>
          </a:xfrm>
          <a:prstGeom prst="roundRect">
            <a:avLst/>
          </a:prstGeom>
          <a:solidFill>
            <a:srgbClr val="610B0B"/>
          </a:solidFill>
        </p:spPr>
        <p:txBody>
          <a:bodyPr>
            <a:noAutofit/>
          </a:bodyPr>
          <a:lstStyle/>
          <a:p>
            <a:r>
              <a:rPr lang="en-US" sz="1800" dirty="0">
                <a:latin typeface="Bahnschrift Condensed" panose="020B0502040204020203" pitchFamily="34" charset="0"/>
              </a:rPr>
              <a:t>Our analysis demonstrates that the Aadhaar ecosystem is not a monolithic entity but rather comprises distinct "Governance Archetypes" that require tailored operational strategies . By contrasting state-level data, we identified "Migration Corridors," where destination states like Maharashtra function as industrial sinks driving high update demand, while source states like Bihar remain focused on fresh enrolment growth . We also distinguished "Mature Economies" like Tamil Nadu, which prioritize maintenance efficiency, from "Growth Economies" that are still in the acquisition phase . This variance confirms that a unified national policy is less effective than targeted, archetype-specific interventions .</a:t>
            </a:r>
            <a:endParaRPr lang="en-IN" sz="1800" dirty="0">
              <a:latin typeface="Bahnschrift Condensed" panose="020B0502040204020203" pitchFamily="34" charset="0"/>
            </a:endParaRPr>
          </a:p>
        </p:txBody>
      </p:sp>
      <p:pic>
        <p:nvPicPr>
          <p:cNvPr id="5" name="Picture 4">
            <a:extLst>
              <a:ext uri="{FF2B5EF4-FFF2-40B4-BE49-F238E27FC236}">
                <a16:creationId xmlns:a16="http://schemas.microsoft.com/office/drawing/2014/main" id="{6EBABAB1-9910-5763-1F5D-D238F52195DD}"/>
              </a:ext>
            </a:extLst>
          </p:cNvPr>
          <p:cNvPicPr>
            <a:picLocks noChangeAspect="1"/>
          </p:cNvPicPr>
          <p:nvPr/>
        </p:nvPicPr>
        <p:blipFill>
          <a:blip r:embed="rId2"/>
          <a:stretch>
            <a:fillRect/>
          </a:stretch>
        </p:blipFill>
        <p:spPr>
          <a:xfrm>
            <a:off x="6775698" y="250486"/>
            <a:ext cx="5416302" cy="3022600"/>
          </a:xfrm>
          <a:prstGeom prst="rect">
            <a:avLst/>
          </a:prstGeom>
        </p:spPr>
      </p:pic>
      <p:pic>
        <p:nvPicPr>
          <p:cNvPr id="7" name="Picture 6">
            <a:extLst>
              <a:ext uri="{FF2B5EF4-FFF2-40B4-BE49-F238E27FC236}">
                <a16:creationId xmlns:a16="http://schemas.microsoft.com/office/drawing/2014/main" id="{50562B48-939B-293A-28A6-7BD4C60900A4}"/>
              </a:ext>
            </a:extLst>
          </p:cNvPr>
          <p:cNvPicPr>
            <a:picLocks noChangeAspect="1"/>
          </p:cNvPicPr>
          <p:nvPr/>
        </p:nvPicPr>
        <p:blipFill>
          <a:blip r:embed="rId3"/>
          <a:stretch>
            <a:fillRect/>
          </a:stretch>
        </p:blipFill>
        <p:spPr>
          <a:xfrm>
            <a:off x="23670" y="3429000"/>
            <a:ext cx="5945244" cy="3022600"/>
          </a:xfrm>
          <a:prstGeom prst="rect">
            <a:avLst/>
          </a:prstGeom>
        </p:spPr>
      </p:pic>
      <p:pic>
        <p:nvPicPr>
          <p:cNvPr id="9" name="Picture 8">
            <a:extLst>
              <a:ext uri="{FF2B5EF4-FFF2-40B4-BE49-F238E27FC236}">
                <a16:creationId xmlns:a16="http://schemas.microsoft.com/office/drawing/2014/main" id="{1B2BC4C5-5741-D6DE-64C4-47E29D46678F}"/>
              </a:ext>
            </a:extLst>
          </p:cNvPr>
          <p:cNvPicPr>
            <a:picLocks noChangeAspect="1"/>
          </p:cNvPicPr>
          <p:nvPr/>
        </p:nvPicPr>
        <p:blipFill>
          <a:blip r:embed="rId4"/>
          <a:stretch>
            <a:fillRect/>
          </a:stretch>
        </p:blipFill>
        <p:spPr>
          <a:xfrm>
            <a:off x="5968914" y="3429000"/>
            <a:ext cx="6199416" cy="3022600"/>
          </a:xfrm>
          <a:prstGeom prst="rect">
            <a:avLst/>
          </a:prstGeom>
        </p:spPr>
      </p:pic>
    </p:spTree>
    <p:extLst>
      <p:ext uri="{BB962C8B-B14F-4D97-AF65-F5344CB8AC3E}">
        <p14:creationId xmlns:p14="http://schemas.microsoft.com/office/powerpoint/2010/main" val="24046579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7F247-DEA3-5535-3D8C-92E6CD1851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599A10-A29F-037E-2AE1-4957908E73A2}"/>
              </a:ext>
            </a:extLst>
          </p:cNvPr>
          <p:cNvSpPr>
            <a:spLocks noGrp="1"/>
          </p:cNvSpPr>
          <p:nvPr>
            <p:ph type="title"/>
          </p:nvPr>
        </p:nvSpPr>
        <p:spPr>
          <a:xfrm>
            <a:off x="2121643" y="3077504"/>
            <a:ext cx="7948714" cy="1325563"/>
          </a:xfrm>
        </p:spPr>
        <p:txBody>
          <a:bodyPr>
            <a:normAutofit fontScale="90000"/>
          </a:bodyPr>
          <a:lstStyle/>
          <a:p>
            <a:r>
              <a:rPr lang="en-IN" sz="8000" b="1" dirty="0">
                <a:latin typeface="Bahnschrift Condensed" panose="020B0502040204020203" pitchFamily="34" charset="0"/>
              </a:rPr>
              <a:t>AI DIAGNOSTICS: THE 991 ANOMALIES</a:t>
            </a:r>
            <a:endParaRPr lang="en-IN" sz="8000" dirty="0">
              <a:latin typeface="Bahnschrift Condensed" panose="020B0502040204020203" pitchFamily="34" charset="0"/>
            </a:endParaRPr>
          </a:p>
        </p:txBody>
      </p:sp>
    </p:spTree>
    <p:extLst>
      <p:ext uri="{BB962C8B-B14F-4D97-AF65-F5344CB8AC3E}">
        <p14:creationId xmlns:p14="http://schemas.microsoft.com/office/powerpoint/2010/main" val="31816849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284E30-DF1D-30B9-C1D4-27689CA248BC}"/>
              </a:ext>
            </a:extLst>
          </p:cNvPr>
          <p:cNvSpPr>
            <a:spLocks noGrp="1"/>
          </p:cNvSpPr>
          <p:nvPr>
            <p:ph idx="1"/>
          </p:nvPr>
        </p:nvSpPr>
        <p:spPr>
          <a:xfrm>
            <a:off x="312583" y="1968182"/>
            <a:ext cx="4015578" cy="2921635"/>
          </a:xfrm>
          <a:prstGeom prst="roundRect">
            <a:avLst/>
          </a:prstGeom>
          <a:solidFill>
            <a:srgbClr val="65140B"/>
          </a:solidFill>
        </p:spPr>
        <p:txBody>
          <a:bodyPr>
            <a:normAutofit fontScale="62500" lnSpcReduction="20000"/>
          </a:bodyPr>
          <a:lstStyle/>
          <a:p>
            <a:pPr marL="0" indent="0">
              <a:buNone/>
            </a:pPr>
            <a:endParaRPr lang="en-US" dirty="0">
              <a:latin typeface="Bahnschrift Condensed" panose="020B0502040204020203" pitchFamily="34" charset="0"/>
            </a:endParaRPr>
          </a:p>
          <a:p>
            <a:pPr marL="0" indent="0">
              <a:buNone/>
            </a:pPr>
            <a:r>
              <a:rPr lang="en-US" dirty="0">
                <a:latin typeface="Bahnschrift Condensed" panose="020B0502040204020203" pitchFamily="34" charset="0"/>
              </a:rPr>
              <a:t>Our Anomaly Detection Engine employed an "Isolation Forest” machine learning algorithm. This algorithm was able to successfully flag specific pin codes as anomalies (991 specific pin codes in our data sets). This was not simply due to the higher volumes within the data sets but,  the ratios were mathematically and statistically impossible under normal circumstances, indicating potential fraudulent practices to update user details in bulk</a:t>
            </a:r>
            <a:endParaRPr lang="en-IN" dirty="0">
              <a:latin typeface="Bahnschrift Condensed" panose="020B0502040204020203" pitchFamily="34" charset="0"/>
            </a:endParaRPr>
          </a:p>
        </p:txBody>
      </p:sp>
      <p:pic>
        <p:nvPicPr>
          <p:cNvPr id="5" name="Picture 4">
            <a:extLst>
              <a:ext uri="{FF2B5EF4-FFF2-40B4-BE49-F238E27FC236}">
                <a16:creationId xmlns:a16="http://schemas.microsoft.com/office/drawing/2014/main" id="{E92EB1DA-BEB4-52BA-7414-859B0342B2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2490" y="0"/>
            <a:ext cx="7599510" cy="6771839"/>
          </a:xfrm>
          <a:prstGeom prst="rect">
            <a:avLst/>
          </a:prstGeom>
        </p:spPr>
      </p:pic>
    </p:spTree>
    <p:extLst>
      <p:ext uri="{BB962C8B-B14F-4D97-AF65-F5344CB8AC3E}">
        <p14:creationId xmlns:p14="http://schemas.microsoft.com/office/powerpoint/2010/main" val="22031686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477A1-A01B-1E61-C15C-BA2D0628E2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1F7D16-32B8-99E7-0D91-33F89CB538F1}"/>
              </a:ext>
            </a:extLst>
          </p:cNvPr>
          <p:cNvSpPr>
            <a:spLocks noGrp="1"/>
          </p:cNvSpPr>
          <p:nvPr>
            <p:ph type="title"/>
          </p:nvPr>
        </p:nvSpPr>
        <p:spPr>
          <a:xfrm>
            <a:off x="2121643" y="2766219"/>
            <a:ext cx="7948714" cy="1325563"/>
          </a:xfrm>
        </p:spPr>
        <p:txBody>
          <a:bodyPr>
            <a:normAutofit fontScale="90000"/>
          </a:bodyPr>
          <a:lstStyle/>
          <a:p>
            <a:r>
              <a:rPr lang="en-IN" sz="8000" dirty="0">
                <a:latin typeface="Bahnschrift Condensed" panose="020B0502040204020203" pitchFamily="34" charset="0"/>
              </a:rPr>
              <a:t>TEMPORAL DATA ANALYSIS</a:t>
            </a:r>
          </a:p>
        </p:txBody>
      </p:sp>
    </p:spTree>
    <p:extLst>
      <p:ext uri="{BB962C8B-B14F-4D97-AF65-F5344CB8AC3E}">
        <p14:creationId xmlns:p14="http://schemas.microsoft.com/office/powerpoint/2010/main" val="36791976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F10B191-C559-77E4-D018-3738262F6C6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26727" y="525780"/>
            <a:ext cx="6516115" cy="5806439"/>
          </a:xfrm>
          <a:prstGeom prst="rect">
            <a:avLst/>
          </a:prstGeom>
        </p:spPr>
      </p:pic>
      <p:sp>
        <p:nvSpPr>
          <p:cNvPr id="7" name="TextBox 6">
            <a:extLst>
              <a:ext uri="{FF2B5EF4-FFF2-40B4-BE49-F238E27FC236}">
                <a16:creationId xmlns:a16="http://schemas.microsoft.com/office/drawing/2014/main" id="{2B8FD57E-A30C-660B-7DB2-D78D50811AF8}"/>
              </a:ext>
            </a:extLst>
          </p:cNvPr>
          <p:cNvSpPr txBox="1"/>
          <p:nvPr/>
        </p:nvSpPr>
        <p:spPr>
          <a:xfrm>
            <a:off x="384038" y="1592088"/>
            <a:ext cx="4693801" cy="1328023"/>
          </a:xfrm>
          <a:prstGeom prst="roundRect">
            <a:avLst/>
          </a:prstGeom>
          <a:solidFill>
            <a:srgbClr val="32597A"/>
          </a:solidFill>
        </p:spPr>
        <p:txBody>
          <a:bodyPr wrap="square">
            <a:spAutoFit/>
          </a:bodyPr>
          <a:lstStyle/>
          <a:p>
            <a:r>
              <a:rPr lang="en-US" dirty="0">
                <a:latin typeface="Bahnschrift Condensed" panose="020B0502040204020203" pitchFamily="34" charset="0"/>
              </a:rPr>
              <a:t>Our system will make operations predictive instead of reactive by employing the Holt-Winters Exponential Smoothing algorithm. </a:t>
            </a:r>
          </a:p>
          <a:p>
            <a:endParaRPr lang="en-US" dirty="0">
              <a:latin typeface="Bahnschrift Condensed" panose="020B0502040204020203" pitchFamily="34" charset="0"/>
            </a:endParaRPr>
          </a:p>
        </p:txBody>
      </p:sp>
      <p:sp>
        <p:nvSpPr>
          <p:cNvPr id="4" name="TextBox 3">
            <a:extLst>
              <a:ext uri="{FF2B5EF4-FFF2-40B4-BE49-F238E27FC236}">
                <a16:creationId xmlns:a16="http://schemas.microsoft.com/office/drawing/2014/main" id="{AD4B7FE5-FF2A-6389-EB6F-4BFE06757866}"/>
              </a:ext>
            </a:extLst>
          </p:cNvPr>
          <p:cNvSpPr txBox="1"/>
          <p:nvPr/>
        </p:nvSpPr>
        <p:spPr>
          <a:xfrm>
            <a:off x="384039" y="3631643"/>
            <a:ext cx="4693800" cy="1328023"/>
          </a:xfrm>
          <a:prstGeom prst="roundRect">
            <a:avLst/>
          </a:prstGeom>
          <a:solidFill>
            <a:srgbClr val="32597A"/>
          </a:solidFill>
        </p:spPr>
        <p:txBody>
          <a:bodyPr wrap="square">
            <a:spAutoFit/>
          </a:bodyPr>
          <a:lstStyle/>
          <a:p>
            <a:r>
              <a:rPr lang="en-US" dirty="0">
                <a:latin typeface="Bahnschrift Condensed" panose="020B0502040204020203" pitchFamily="34" charset="0"/>
              </a:rPr>
              <a:t>This model takes critical seasonal variances into consideration-for instance, the sharp update spikes seen in July and October 2025 linked to school admissions-to forecast demand with very high precision. </a:t>
            </a:r>
          </a:p>
        </p:txBody>
      </p:sp>
    </p:spTree>
    <p:extLst>
      <p:ext uri="{BB962C8B-B14F-4D97-AF65-F5344CB8AC3E}">
        <p14:creationId xmlns:p14="http://schemas.microsoft.com/office/powerpoint/2010/main" val="28799603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FD49745-2CF2-E653-D713-E19D9139AC0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76154" y="406636"/>
            <a:ext cx="6213703" cy="5536963"/>
          </a:xfrm>
          <a:prstGeom prst="rect">
            <a:avLst/>
          </a:prstGeom>
        </p:spPr>
      </p:pic>
      <p:sp>
        <p:nvSpPr>
          <p:cNvPr id="7" name="TextBox 6">
            <a:extLst>
              <a:ext uri="{FF2B5EF4-FFF2-40B4-BE49-F238E27FC236}">
                <a16:creationId xmlns:a16="http://schemas.microsoft.com/office/drawing/2014/main" id="{061A42CC-76C9-686E-D6A3-4F54502F983F}"/>
              </a:ext>
            </a:extLst>
          </p:cNvPr>
          <p:cNvSpPr txBox="1"/>
          <p:nvPr/>
        </p:nvSpPr>
        <p:spPr>
          <a:xfrm>
            <a:off x="466743" y="1690688"/>
            <a:ext cx="4484635" cy="1940957"/>
          </a:xfrm>
          <a:prstGeom prst="roundRect">
            <a:avLst/>
          </a:prstGeom>
          <a:solidFill>
            <a:srgbClr val="08306B"/>
          </a:solidFill>
        </p:spPr>
        <p:txBody>
          <a:bodyPr wrap="square">
            <a:spAutoFit/>
          </a:bodyPr>
          <a:lstStyle/>
          <a:p>
            <a:r>
              <a:rPr lang="en-US" dirty="0">
                <a:latin typeface="Bahnschrift Condensed" panose="020B0502040204020203" pitchFamily="34" charset="0"/>
              </a:rPr>
              <a:t>Our analysis of temporal data reveals distinct behavioral patterns that govern ecosystem activity. Weekly cycles show a massive front-loading of effort, with </a:t>
            </a:r>
            <a:r>
              <a:rPr lang="en-US" b="1" dirty="0">
                <a:latin typeface="Bahnschrift Condensed" panose="020B0502040204020203" pitchFamily="34" charset="0"/>
              </a:rPr>
              <a:t>Mondays and Tuesdays</a:t>
            </a:r>
            <a:r>
              <a:rPr lang="en-US" dirty="0">
                <a:latin typeface="Bahnschrift Condensed" panose="020B0502040204020203" pitchFamily="34" charset="0"/>
              </a:rPr>
              <a:t> consistently recording the highest volumes as centers process the weekend backlog</a:t>
            </a:r>
            <a:endParaRPr lang="en-IN" dirty="0">
              <a:latin typeface="Bahnschrift Condensed" panose="020B0502040204020203" pitchFamily="34" charset="0"/>
            </a:endParaRPr>
          </a:p>
        </p:txBody>
      </p:sp>
    </p:spTree>
    <p:extLst>
      <p:ext uri="{BB962C8B-B14F-4D97-AF65-F5344CB8AC3E}">
        <p14:creationId xmlns:p14="http://schemas.microsoft.com/office/powerpoint/2010/main" val="22528663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066D555-9A91-33F6-774C-890A92AFABB1}"/>
              </a:ext>
            </a:extLst>
          </p:cNvPr>
          <p:cNvPicPr>
            <a:picLocks noGrp="1" noChangeAspect="1"/>
          </p:cNvPicPr>
          <p:nvPr>
            <p:ph idx="1"/>
          </p:nvPr>
        </p:nvPicPr>
        <p:blipFill>
          <a:blip r:embed="rId2"/>
          <a:stretch>
            <a:fillRect/>
          </a:stretch>
        </p:blipFill>
        <p:spPr>
          <a:xfrm>
            <a:off x="1923920" y="245533"/>
            <a:ext cx="8922580" cy="6858000"/>
          </a:xfrm>
          <a:prstGeom prst="rect">
            <a:avLst/>
          </a:prstGeom>
        </p:spPr>
      </p:pic>
      <p:sp>
        <p:nvSpPr>
          <p:cNvPr id="2" name="Rectangle 1">
            <a:extLst>
              <a:ext uri="{FF2B5EF4-FFF2-40B4-BE49-F238E27FC236}">
                <a16:creationId xmlns:a16="http://schemas.microsoft.com/office/drawing/2014/main" id="{0A1DD6CE-59EC-F5AD-8ECB-9102F86940E8}"/>
              </a:ext>
            </a:extLst>
          </p:cNvPr>
          <p:cNvSpPr/>
          <p:nvPr/>
        </p:nvSpPr>
        <p:spPr>
          <a:xfrm>
            <a:off x="1923920" y="5266266"/>
            <a:ext cx="8922580" cy="183726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0295029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279</TotalTime>
  <Words>759</Words>
  <Application>Microsoft Office PowerPoint</Application>
  <PresentationFormat>Widescreen</PresentationFormat>
  <Paragraphs>41</Paragraphs>
  <Slides>28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Bahnschrift Condensed</vt:lpstr>
      <vt:lpstr>Calibri</vt:lpstr>
      <vt:lpstr>Calibri Light</vt:lpstr>
      <vt:lpstr>Office Theme</vt:lpstr>
      <vt:lpstr>PowerPoint Presentation</vt:lpstr>
      <vt:lpstr>UIDAI HACKATHON</vt:lpstr>
      <vt:lpstr>PROBLEM STATEMENT</vt:lpstr>
      <vt:lpstr>PROBLEM STATEMENT</vt:lpstr>
      <vt:lpstr>PowerPoint Presentation</vt:lpstr>
      <vt:lpstr>DATASET USED</vt:lpstr>
      <vt:lpstr>PowerPoint Presentation</vt:lpstr>
      <vt:lpstr>METHODOLOGY</vt:lpstr>
      <vt:lpstr>PowerPoint Presentation</vt:lpstr>
      <vt:lpstr>PowerPoint Presentation</vt:lpstr>
      <vt:lpstr>PowerPoint Presentation</vt:lpstr>
      <vt:lpstr>PowerPoint Presentation</vt:lpstr>
      <vt:lpstr>FEATURE EXTRACTION</vt:lpstr>
      <vt:lpstr>PowerPoint Presentation</vt:lpstr>
      <vt:lpstr>PARETO ANALYSIS (80/20 RULE)</vt:lpstr>
      <vt:lpstr>PowerPoint Presentation</vt:lpstr>
      <vt:lpstr>MIGRATION DYNAMICS (THE ’CHURN’ MAP)</vt:lpstr>
      <vt:lpstr>PowerPoint Presentation</vt:lpstr>
      <vt:lpstr>OPERATIONAL EFFICIENCY GAP</vt:lpstr>
      <vt:lpstr>PowerPoint Presentation</vt:lpstr>
      <vt:lpstr>STRATEGIC STATE ARCHETYPES: DIVERGENT OPERATIONAL BEHAVIORS</vt:lpstr>
      <vt:lpstr>PowerPoint Presentation</vt:lpstr>
      <vt:lpstr>AI DIAGNOSTICS: THE 991 ANOMALIES</vt:lpstr>
      <vt:lpstr>PowerPoint Presentation</vt:lpstr>
      <vt:lpstr>TEMPORAL DATA ANALYSIS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 Gogulakrishnan</dc:creator>
  <cp:lastModifiedBy>G GOGULAKRISHNAN-[CH.SC.U4AIE24019]</cp:lastModifiedBy>
  <cp:revision>3</cp:revision>
  <dcterms:created xsi:type="dcterms:W3CDTF">2026-02-12T19:24:14Z</dcterms:created>
  <dcterms:modified xsi:type="dcterms:W3CDTF">2026-02-13T06:15:17Z</dcterms:modified>
</cp:coreProperties>
</file>